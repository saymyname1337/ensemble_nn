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87" r:id="rId4"/>
  </p:sldMasterIdLst>
  <p:notesMasterIdLst>
    <p:notesMasterId r:id="rId24"/>
  </p:notesMasterIdLst>
  <p:handoutMasterIdLst>
    <p:handoutMasterId r:id="rId25"/>
  </p:handoutMasterIdLst>
  <p:sldIdLst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84" r:id="rId14"/>
    <p:sldId id="283" r:id="rId15"/>
    <p:sldId id="275" r:id="rId16"/>
    <p:sldId id="276" r:id="rId17"/>
    <p:sldId id="287" r:id="rId18"/>
    <p:sldId id="288" r:id="rId19"/>
    <p:sldId id="277" r:id="rId20"/>
    <p:sldId id="278" r:id="rId21"/>
    <p:sldId id="280" r:id="rId22"/>
    <p:sldId id="281" r:id="rId23"/>
  </p:sldIdLst>
  <p:sldSz cx="9144000" cy="5143500" type="screen16x9"/>
  <p:notesSz cx="6858000" cy="9144000"/>
  <p:embeddedFontLst>
    <p:embeddedFont>
      <p:font typeface="Avenir Next Cyr" panose="020B0503020202020204" charset="-52"/>
      <p:regular r:id="rId26"/>
      <p:bold r:id="rId27"/>
      <p:italic r:id="rId28"/>
      <p:boldItalic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Raleway" pitchFamily="2" charset="-52"/>
      <p:regular r:id="rId35"/>
      <p:bold r:id="rId36"/>
      <p:italic r:id="rId37"/>
      <p:boldItalic r:id="rId38"/>
    </p:embeddedFont>
    <p:embeddedFont>
      <p:font typeface="Roboto" panose="02000000000000000000" pitchFamily="2" charset="0"/>
      <p:regular r:id="rId39"/>
      <p:bold r:id="rId40"/>
      <p:italic r:id="rId41"/>
      <p:boldItalic r:id="rId4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1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CECF"/>
    <a:srgbClr val="F0E8E9"/>
    <a:srgbClr val="A23E43"/>
    <a:srgbClr val="9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88488" autoAdjust="0"/>
  </p:normalViewPr>
  <p:slideViewPr>
    <p:cSldViewPr showGuides="1">
      <p:cViewPr>
        <p:scale>
          <a:sx n="150" d="100"/>
          <a:sy n="150" d="100"/>
        </p:scale>
        <p:origin x="336" y="108"/>
      </p:cViewPr>
      <p:guideLst>
        <p:guide orient="horz" pos="171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380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font" Target="fonts/font16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EC5DCA-08C3-4595-8A18-990E1713CB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A018E4B-F952-4D62-BF56-9436777D9F61}">
      <dgm:prSet/>
      <dgm:spPr>
        <a:solidFill>
          <a:schemeClr val="bg2">
            <a:lumMod val="90000"/>
          </a:schemeClr>
        </a:solidFill>
      </dgm:spPr>
      <dgm:t>
        <a:bodyPr/>
        <a:lstStyle/>
        <a:p>
          <a:r>
            <a:rPr lang="ru-RU" b="1" dirty="0">
              <a:solidFill>
                <a:schemeClr val="tx1"/>
              </a:solidFill>
            </a:rPr>
            <a:t>Основные результаты</a:t>
          </a:r>
          <a:r>
            <a:rPr lang="en-US" b="1" dirty="0">
              <a:solidFill>
                <a:schemeClr val="tx1"/>
              </a:solidFill>
            </a:rPr>
            <a:t>:</a:t>
          </a:r>
          <a:endParaRPr lang="ru-RU" dirty="0">
            <a:solidFill>
              <a:schemeClr val="tx1"/>
            </a:solidFill>
          </a:endParaRPr>
        </a:p>
      </dgm:t>
    </dgm:pt>
    <dgm:pt modelId="{3DFCE44F-16BB-4F38-B0E4-088F8EF80DBE}" type="parTrans" cxnId="{B74CDDF1-D759-433D-A8AF-F9A22C502948}">
      <dgm:prSet/>
      <dgm:spPr/>
      <dgm:t>
        <a:bodyPr/>
        <a:lstStyle/>
        <a:p>
          <a:endParaRPr lang="ru-RU"/>
        </a:p>
      </dgm:t>
    </dgm:pt>
    <dgm:pt modelId="{D6E35754-9B74-4DA0-B40E-D6840ADC323B}" type="sibTrans" cxnId="{B74CDDF1-D759-433D-A8AF-F9A22C502948}">
      <dgm:prSet/>
      <dgm:spPr/>
      <dgm:t>
        <a:bodyPr/>
        <a:lstStyle/>
        <a:p>
          <a:endParaRPr lang="ru-RU"/>
        </a:p>
      </dgm:t>
    </dgm:pt>
    <dgm:pt modelId="{3DAEF3BE-6A23-4AD8-BE70-6A9EDBC63402}">
      <dgm:prSet/>
      <dgm:spPr/>
      <dgm:t>
        <a:bodyPr/>
        <a:lstStyle/>
        <a:p>
          <a:r>
            <a:rPr lang="ru-RU"/>
            <a:t>Разработан программный комплекс</a:t>
          </a:r>
          <a:r>
            <a:rPr lang="en-US"/>
            <a:t>,</a:t>
          </a:r>
          <a:r>
            <a:rPr lang="ru-RU"/>
            <a:t> эффективно решающий задачу классификации зашумленных данных</a:t>
          </a:r>
          <a:r>
            <a:rPr lang="en-US"/>
            <a:t>;</a:t>
          </a:r>
          <a:endParaRPr lang="ru-RU"/>
        </a:p>
      </dgm:t>
    </dgm:pt>
    <dgm:pt modelId="{D06C8BB9-CE3A-4CB1-9078-C57D42F97C45}" type="parTrans" cxnId="{15DAB3A4-5303-41F6-ABCC-1BC15AFE56F9}">
      <dgm:prSet/>
      <dgm:spPr/>
      <dgm:t>
        <a:bodyPr/>
        <a:lstStyle/>
        <a:p>
          <a:endParaRPr lang="ru-RU"/>
        </a:p>
      </dgm:t>
    </dgm:pt>
    <dgm:pt modelId="{8F956C64-01B8-4956-99B7-1E2B5F89CB86}" type="sibTrans" cxnId="{15DAB3A4-5303-41F6-ABCC-1BC15AFE56F9}">
      <dgm:prSet/>
      <dgm:spPr/>
      <dgm:t>
        <a:bodyPr/>
        <a:lstStyle/>
        <a:p>
          <a:endParaRPr lang="ru-RU"/>
        </a:p>
      </dgm:t>
    </dgm:pt>
    <dgm:pt modelId="{58F354DD-3D8F-4542-AA45-91440CD20EE2}">
      <dgm:prSet/>
      <dgm:spPr/>
      <dgm:t>
        <a:bodyPr/>
        <a:lstStyle/>
        <a:p>
          <a:r>
            <a:rPr lang="ru-RU"/>
            <a:t>Предложен и реализован адаптивный ансамблевый метод</a:t>
          </a:r>
          <a:r>
            <a:rPr lang="en-US"/>
            <a:t>,</a:t>
          </a:r>
          <a:r>
            <a:rPr lang="ru-RU"/>
            <a:t> сохраняющий нейронную сеть в качестве центрального элемента</a:t>
          </a:r>
          <a:r>
            <a:rPr lang="en-US"/>
            <a:t>;</a:t>
          </a:r>
          <a:endParaRPr lang="ru-RU"/>
        </a:p>
      </dgm:t>
    </dgm:pt>
    <dgm:pt modelId="{D64235E2-EEA5-43FD-890F-9CA04EE86743}" type="parTrans" cxnId="{E130BA16-BD11-4022-B085-C6D7F63EB3A7}">
      <dgm:prSet/>
      <dgm:spPr/>
      <dgm:t>
        <a:bodyPr/>
        <a:lstStyle/>
        <a:p>
          <a:endParaRPr lang="ru-RU"/>
        </a:p>
      </dgm:t>
    </dgm:pt>
    <dgm:pt modelId="{87383EFB-660D-44FF-A2B5-5F0428FEDE1A}" type="sibTrans" cxnId="{E130BA16-BD11-4022-B085-C6D7F63EB3A7}">
      <dgm:prSet/>
      <dgm:spPr/>
      <dgm:t>
        <a:bodyPr/>
        <a:lstStyle/>
        <a:p>
          <a:endParaRPr lang="ru-RU"/>
        </a:p>
      </dgm:t>
    </dgm:pt>
    <dgm:pt modelId="{7694EB35-AAE2-4CAF-B56E-60274C968C55}">
      <dgm:prSet/>
      <dgm:spPr/>
      <dgm:t>
        <a:bodyPr/>
        <a:lstStyle/>
        <a:p>
          <a:r>
            <a:rPr lang="ru-RU"/>
            <a:t>Экспериментально доказана высокая эффективность и устойчивость предложенного подхода по сравнению с базовыми аналогами.</a:t>
          </a:r>
        </a:p>
      </dgm:t>
    </dgm:pt>
    <dgm:pt modelId="{2307FF0C-00B7-4987-B20D-624047165D62}" type="parTrans" cxnId="{E08A2371-79B1-42BE-9FB8-EC102CDEBD15}">
      <dgm:prSet/>
      <dgm:spPr/>
      <dgm:t>
        <a:bodyPr/>
        <a:lstStyle/>
        <a:p>
          <a:endParaRPr lang="ru-RU"/>
        </a:p>
      </dgm:t>
    </dgm:pt>
    <dgm:pt modelId="{9C829012-8582-4B41-9BD2-223FC066D10F}" type="sibTrans" cxnId="{E08A2371-79B1-42BE-9FB8-EC102CDEBD15}">
      <dgm:prSet/>
      <dgm:spPr/>
      <dgm:t>
        <a:bodyPr/>
        <a:lstStyle/>
        <a:p>
          <a:endParaRPr lang="ru-RU"/>
        </a:p>
      </dgm:t>
    </dgm:pt>
    <dgm:pt modelId="{72C727E7-D1B2-42F3-B9F9-FA3BBC640F80}" type="pres">
      <dgm:prSet presAssocID="{06EC5DCA-08C3-4595-8A18-990E1713CB66}" presName="linear" presStyleCnt="0">
        <dgm:presLayoutVars>
          <dgm:animLvl val="lvl"/>
          <dgm:resizeHandles val="exact"/>
        </dgm:presLayoutVars>
      </dgm:prSet>
      <dgm:spPr/>
    </dgm:pt>
    <dgm:pt modelId="{99662151-D489-4EDB-805C-5E52723B0C62}" type="pres">
      <dgm:prSet presAssocID="{AA018E4B-F952-4D62-BF56-9436777D9F6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3288EEF-39EE-4570-BD33-08922FB52F2C}" type="pres">
      <dgm:prSet presAssocID="{AA018E4B-F952-4D62-BF56-9436777D9F6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130BA16-BD11-4022-B085-C6D7F63EB3A7}" srcId="{AA018E4B-F952-4D62-BF56-9436777D9F61}" destId="{58F354DD-3D8F-4542-AA45-91440CD20EE2}" srcOrd="1" destOrd="0" parTransId="{D64235E2-EEA5-43FD-890F-9CA04EE86743}" sibTransId="{87383EFB-660D-44FF-A2B5-5F0428FEDE1A}"/>
    <dgm:cxn modelId="{E1557236-C4C2-4F78-A9DB-90D104409BD3}" type="presOf" srcId="{06EC5DCA-08C3-4595-8A18-990E1713CB66}" destId="{72C727E7-D1B2-42F3-B9F9-FA3BBC640F80}" srcOrd="0" destOrd="0" presId="urn:microsoft.com/office/officeart/2005/8/layout/vList2"/>
    <dgm:cxn modelId="{A50E7963-BF50-4270-9A8B-2824CDD4314F}" type="presOf" srcId="{3DAEF3BE-6A23-4AD8-BE70-6A9EDBC63402}" destId="{A3288EEF-39EE-4570-BD33-08922FB52F2C}" srcOrd="0" destOrd="0" presId="urn:microsoft.com/office/officeart/2005/8/layout/vList2"/>
    <dgm:cxn modelId="{E08A2371-79B1-42BE-9FB8-EC102CDEBD15}" srcId="{AA018E4B-F952-4D62-BF56-9436777D9F61}" destId="{7694EB35-AAE2-4CAF-B56E-60274C968C55}" srcOrd="2" destOrd="0" parTransId="{2307FF0C-00B7-4987-B20D-624047165D62}" sibTransId="{9C829012-8582-4B41-9BD2-223FC066D10F}"/>
    <dgm:cxn modelId="{15DAB3A4-5303-41F6-ABCC-1BC15AFE56F9}" srcId="{AA018E4B-F952-4D62-BF56-9436777D9F61}" destId="{3DAEF3BE-6A23-4AD8-BE70-6A9EDBC63402}" srcOrd="0" destOrd="0" parTransId="{D06C8BB9-CE3A-4CB1-9078-C57D42F97C45}" sibTransId="{8F956C64-01B8-4956-99B7-1E2B5F89CB86}"/>
    <dgm:cxn modelId="{F2B214B0-741C-4739-8379-CE7AA9779542}" type="presOf" srcId="{58F354DD-3D8F-4542-AA45-91440CD20EE2}" destId="{A3288EEF-39EE-4570-BD33-08922FB52F2C}" srcOrd="0" destOrd="1" presId="urn:microsoft.com/office/officeart/2005/8/layout/vList2"/>
    <dgm:cxn modelId="{848D62B0-5F13-47A0-9F56-CD58B4E97EF6}" type="presOf" srcId="{7694EB35-AAE2-4CAF-B56E-60274C968C55}" destId="{A3288EEF-39EE-4570-BD33-08922FB52F2C}" srcOrd="0" destOrd="2" presId="urn:microsoft.com/office/officeart/2005/8/layout/vList2"/>
    <dgm:cxn modelId="{B3C3AFB7-4700-4ACE-96C2-10582C4651B2}" type="presOf" srcId="{AA018E4B-F952-4D62-BF56-9436777D9F61}" destId="{99662151-D489-4EDB-805C-5E52723B0C62}" srcOrd="0" destOrd="0" presId="urn:microsoft.com/office/officeart/2005/8/layout/vList2"/>
    <dgm:cxn modelId="{B74CDDF1-D759-433D-A8AF-F9A22C502948}" srcId="{06EC5DCA-08C3-4595-8A18-990E1713CB66}" destId="{AA018E4B-F952-4D62-BF56-9436777D9F61}" srcOrd="0" destOrd="0" parTransId="{3DFCE44F-16BB-4F38-B0E4-088F8EF80DBE}" sibTransId="{D6E35754-9B74-4DA0-B40E-D6840ADC323B}"/>
    <dgm:cxn modelId="{7DEFB415-5B26-44BB-9FDA-1F6167980250}" type="presParOf" srcId="{72C727E7-D1B2-42F3-B9F9-FA3BBC640F80}" destId="{99662151-D489-4EDB-805C-5E52723B0C62}" srcOrd="0" destOrd="0" presId="urn:microsoft.com/office/officeart/2005/8/layout/vList2"/>
    <dgm:cxn modelId="{18BA4D00-4BAA-45F6-8A12-72790AE0258B}" type="presParOf" srcId="{72C727E7-D1B2-42F3-B9F9-FA3BBC640F80}" destId="{A3288EEF-39EE-4570-BD33-08922FB52F2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A769AC-2736-4513-8D1D-75D98A46BB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136F1F4-ACFF-46BC-A0BD-3CC218B7B215}">
      <dgm:prSet/>
      <dgm:spPr>
        <a:solidFill>
          <a:schemeClr val="bg2">
            <a:lumMod val="90000"/>
          </a:schemeClr>
        </a:solidFill>
      </dgm:spPr>
      <dgm:t>
        <a:bodyPr/>
        <a:lstStyle/>
        <a:p>
          <a:r>
            <a:rPr lang="ru-RU" b="1" dirty="0">
              <a:solidFill>
                <a:schemeClr val="tx1"/>
              </a:solidFill>
            </a:rPr>
            <a:t>Перспективы развития</a:t>
          </a:r>
          <a:r>
            <a:rPr lang="en-US" b="1" dirty="0">
              <a:solidFill>
                <a:schemeClr val="tx1"/>
              </a:solidFill>
            </a:rPr>
            <a:t>:</a:t>
          </a:r>
          <a:endParaRPr lang="ru-RU" dirty="0">
            <a:solidFill>
              <a:schemeClr val="tx1"/>
            </a:solidFill>
          </a:endParaRPr>
        </a:p>
      </dgm:t>
    </dgm:pt>
    <dgm:pt modelId="{79455A21-BE93-431B-BF76-92D80213625F}" type="parTrans" cxnId="{26DC4E19-1B77-469C-AD40-D9DD45E3D67D}">
      <dgm:prSet/>
      <dgm:spPr/>
      <dgm:t>
        <a:bodyPr/>
        <a:lstStyle/>
        <a:p>
          <a:endParaRPr lang="ru-RU"/>
        </a:p>
      </dgm:t>
    </dgm:pt>
    <dgm:pt modelId="{69E2740D-2137-4259-A4B2-174E92900687}" type="sibTrans" cxnId="{26DC4E19-1B77-469C-AD40-D9DD45E3D67D}">
      <dgm:prSet/>
      <dgm:spPr/>
      <dgm:t>
        <a:bodyPr/>
        <a:lstStyle/>
        <a:p>
          <a:endParaRPr lang="ru-RU"/>
        </a:p>
      </dgm:t>
    </dgm:pt>
    <dgm:pt modelId="{ECE46E30-69EE-455A-A64D-3887B809870A}">
      <dgm:prSet/>
      <dgm:spPr/>
      <dgm:t>
        <a:bodyPr/>
        <a:lstStyle/>
        <a:p>
          <a:r>
            <a:rPr lang="ru-RU"/>
            <a:t>Расширение набора поддерживаемых типов шума и методов предобработки</a:t>
          </a:r>
          <a:r>
            <a:rPr lang="en-US"/>
            <a:t>;</a:t>
          </a:r>
          <a:endParaRPr lang="ru-RU"/>
        </a:p>
      </dgm:t>
    </dgm:pt>
    <dgm:pt modelId="{E1375F13-0175-488F-AC66-797E6064485D}" type="parTrans" cxnId="{181D7503-635B-4C1B-B078-D96654800E3F}">
      <dgm:prSet/>
      <dgm:spPr/>
      <dgm:t>
        <a:bodyPr/>
        <a:lstStyle/>
        <a:p>
          <a:endParaRPr lang="ru-RU"/>
        </a:p>
      </dgm:t>
    </dgm:pt>
    <dgm:pt modelId="{A42386C3-4E58-40F8-8355-FA5AB975A8B2}" type="sibTrans" cxnId="{181D7503-635B-4C1B-B078-D96654800E3F}">
      <dgm:prSet/>
      <dgm:spPr/>
      <dgm:t>
        <a:bodyPr/>
        <a:lstStyle/>
        <a:p>
          <a:endParaRPr lang="ru-RU"/>
        </a:p>
      </dgm:t>
    </dgm:pt>
    <dgm:pt modelId="{352A98F5-B362-4A1D-83F3-92C061F1A680}">
      <dgm:prSet/>
      <dgm:spPr/>
      <dgm:t>
        <a:bodyPr/>
        <a:lstStyle/>
        <a:p>
          <a:r>
            <a:rPr lang="ru-RU"/>
            <a:t>Оптимизация производительности для работы с большими объемами</a:t>
          </a:r>
          <a:r>
            <a:rPr lang="en-US"/>
            <a:t>;</a:t>
          </a:r>
          <a:endParaRPr lang="ru-RU"/>
        </a:p>
      </dgm:t>
    </dgm:pt>
    <dgm:pt modelId="{EFE0CEB7-D944-4F13-903E-42EFF0F3A32C}" type="parTrans" cxnId="{7721E1CC-2712-4165-BFBB-104E3812F80A}">
      <dgm:prSet/>
      <dgm:spPr/>
      <dgm:t>
        <a:bodyPr/>
        <a:lstStyle/>
        <a:p>
          <a:endParaRPr lang="ru-RU"/>
        </a:p>
      </dgm:t>
    </dgm:pt>
    <dgm:pt modelId="{29595F7F-B267-48B9-BE93-1B2EB0FC8D40}" type="sibTrans" cxnId="{7721E1CC-2712-4165-BFBB-104E3812F80A}">
      <dgm:prSet/>
      <dgm:spPr/>
      <dgm:t>
        <a:bodyPr/>
        <a:lstStyle/>
        <a:p>
          <a:endParaRPr lang="ru-RU"/>
        </a:p>
      </dgm:t>
    </dgm:pt>
    <dgm:pt modelId="{D21C4173-EC50-461E-838E-88B93BCD91A5}">
      <dgm:prSet/>
      <dgm:spPr/>
      <dgm:t>
        <a:bodyPr/>
        <a:lstStyle/>
        <a:p>
          <a:r>
            <a:rPr lang="ru-RU"/>
            <a:t>Реализация распределенной версии комплекса для повышения вычислительной эффективности. </a:t>
          </a:r>
        </a:p>
      </dgm:t>
    </dgm:pt>
    <dgm:pt modelId="{96EEFB99-1AA4-4EDA-BCC3-38876C1EFD37}" type="parTrans" cxnId="{9177BEE9-13FE-4271-A4A3-4A6561BB5ABF}">
      <dgm:prSet/>
      <dgm:spPr/>
      <dgm:t>
        <a:bodyPr/>
        <a:lstStyle/>
        <a:p>
          <a:endParaRPr lang="ru-RU"/>
        </a:p>
      </dgm:t>
    </dgm:pt>
    <dgm:pt modelId="{FB3A4158-72F7-4627-A40F-F36D4C9EDEFA}" type="sibTrans" cxnId="{9177BEE9-13FE-4271-A4A3-4A6561BB5ABF}">
      <dgm:prSet/>
      <dgm:spPr/>
      <dgm:t>
        <a:bodyPr/>
        <a:lstStyle/>
        <a:p>
          <a:endParaRPr lang="ru-RU"/>
        </a:p>
      </dgm:t>
    </dgm:pt>
    <dgm:pt modelId="{0CA448CA-EE88-4B0E-8A8F-6DD8672E040F}" type="pres">
      <dgm:prSet presAssocID="{D1A769AC-2736-4513-8D1D-75D98A46BBD6}" presName="linear" presStyleCnt="0">
        <dgm:presLayoutVars>
          <dgm:animLvl val="lvl"/>
          <dgm:resizeHandles val="exact"/>
        </dgm:presLayoutVars>
      </dgm:prSet>
      <dgm:spPr/>
    </dgm:pt>
    <dgm:pt modelId="{52D54BB9-E645-4BD8-8E60-881780AEB57C}" type="pres">
      <dgm:prSet presAssocID="{3136F1F4-ACFF-46BC-A0BD-3CC218B7B21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A59A031-2D67-4E4C-84BD-435461F9BB14}" type="pres">
      <dgm:prSet presAssocID="{3136F1F4-ACFF-46BC-A0BD-3CC218B7B21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81D7503-635B-4C1B-B078-D96654800E3F}" srcId="{3136F1F4-ACFF-46BC-A0BD-3CC218B7B215}" destId="{ECE46E30-69EE-455A-A64D-3887B809870A}" srcOrd="0" destOrd="0" parTransId="{E1375F13-0175-488F-AC66-797E6064485D}" sibTransId="{A42386C3-4E58-40F8-8355-FA5AB975A8B2}"/>
    <dgm:cxn modelId="{3EFB1A0F-C1B1-402D-A13A-0196DF55714A}" type="presOf" srcId="{3136F1F4-ACFF-46BC-A0BD-3CC218B7B215}" destId="{52D54BB9-E645-4BD8-8E60-881780AEB57C}" srcOrd="0" destOrd="0" presId="urn:microsoft.com/office/officeart/2005/8/layout/vList2"/>
    <dgm:cxn modelId="{26DC4E19-1B77-469C-AD40-D9DD45E3D67D}" srcId="{D1A769AC-2736-4513-8D1D-75D98A46BBD6}" destId="{3136F1F4-ACFF-46BC-A0BD-3CC218B7B215}" srcOrd="0" destOrd="0" parTransId="{79455A21-BE93-431B-BF76-92D80213625F}" sibTransId="{69E2740D-2137-4259-A4B2-174E92900687}"/>
    <dgm:cxn modelId="{E311F541-0EF2-41D0-A9AD-E6CF0E9EEE5F}" type="presOf" srcId="{D1A769AC-2736-4513-8D1D-75D98A46BBD6}" destId="{0CA448CA-EE88-4B0E-8A8F-6DD8672E040F}" srcOrd="0" destOrd="0" presId="urn:microsoft.com/office/officeart/2005/8/layout/vList2"/>
    <dgm:cxn modelId="{48413193-3318-4E63-9CAB-BFB713C17A29}" type="presOf" srcId="{D21C4173-EC50-461E-838E-88B93BCD91A5}" destId="{FA59A031-2D67-4E4C-84BD-435461F9BB14}" srcOrd="0" destOrd="2" presId="urn:microsoft.com/office/officeart/2005/8/layout/vList2"/>
    <dgm:cxn modelId="{8DF511A2-2A44-4239-A56C-787A96C5D0C7}" type="presOf" srcId="{ECE46E30-69EE-455A-A64D-3887B809870A}" destId="{FA59A031-2D67-4E4C-84BD-435461F9BB14}" srcOrd="0" destOrd="0" presId="urn:microsoft.com/office/officeart/2005/8/layout/vList2"/>
    <dgm:cxn modelId="{7721E1CC-2712-4165-BFBB-104E3812F80A}" srcId="{3136F1F4-ACFF-46BC-A0BD-3CC218B7B215}" destId="{352A98F5-B362-4A1D-83F3-92C061F1A680}" srcOrd="1" destOrd="0" parTransId="{EFE0CEB7-D944-4F13-903E-42EFF0F3A32C}" sibTransId="{29595F7F-B267-48B9-BE93-1B2EB0FC8D40}"/>
    <dgm:cxn modelId="{6C0EBEE7-1494-49DA-BEFB-A817E3716DE0}" type="presOf" srcId="{352A98F5-B362-4A1D-83F3-92C061F1A680}" destId="{FA59A031-2D67-4E4C-84BD-435461F9BB14}" srcOrd="0" destOrd="1" presId="urn:microsoft.com/office/officeart/2005/8/layout/vList2"/>
    <dgm:cxn modelId="{9177BEE9-13FE-4271-A4A3-4A6561BB5ABF}" srcId="{3136F1F4-ACFF-46BC-A0BD-3CC218B7B215}" destId="{D21C4173-EC50-461E-838E-88B93BCD91A5}" srcOrd="2" destOrd="0" parTransId="{96EEFB99-1AA4-4EDA-BCC3-38876C1EFD37}" sibTransId="{FB3A4158-72F7-4627-A40F-F36D4C9EDEFA}"/>
    <dgm:cxn modelId="{6F38F0D1-8A5A-46BC-A2FD-9B76C5FFD9A3}" type="presParOf" srcId="{0CA448CA-EE88-4B0E-8A8F-6DD8672E040F}" destId="{52D54BB9-E645-4BD8-8E60-881780AEB57C}" srcOrd="0" destOrd="0" presId="urn:microsoft.com/office/officeart/2005/8/layout/vList2"/>
    <dgm:cxn modelId="{4921FB39-7BED-43ED-BFDF-B999C11A0A1B}" type="presParOf" srcId="{0CA448CA-EE88-4B0E-8A8F-6DD8672E040F}" destId="{FA59A031-2D67-4E4C-84BD-435461F9BB1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62151-D489-4EDB-805C-5E52723B0C62}">
      <dsp:nvSpPr>
        <dsp:cNvPr id="0" name=""/>
        <dsp:cNvSpPr/>
      </dsp:nvSpPr>
      <dsp:spPr>
        <a:xfrm>
          <a:off x="0" y="18310"/>
          <a:ext cx="8784976" cy="455715"/>
        </a:xfrm>
        <a:prstGeom prst="roundRect">
          <a:avLst/>
        </a:prstGeom>
        <a:solidFill>
          <a:schemeClr val="bg2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1" kern="1200" dirty="0">
              <a:solidFill>
                <a:schemeClr val="tx1"/>
              </a:solidFill>
            </a:rPr>
            <a:t>Основные результаты</a:t>
          </a:r>
          <a:r>
            <a:rPr lang="en-US" sz="1900" b="1" kern="1200" dirty="0">
              <a:solidFill>
                <a:schemeClr val="tx1"/>
              </a:solidFill>
            </a:rPr>
            <a:t>:</a:t>
          </a:r>
          <a:endParaRPr lang="ru-RU" sz="1900" kern="1200" dirty="0">
            <a:solidFill>
              <a:schemeClr val="tx1"/>
            </a:solidFill>
          </a:endParaRPr>
        </a:p>
      </dsp:txBody>
      <dsp:txXfrm>
        <a:off x="22246" y="40556"/>
        <a:ext cx="8740484" cy="411223"/>
      </dsp:txXfrm>
    </dsp:sp>
    <dsp:sp modelId="{A3288EEF-39EE-4570-BD33-08922FB52F2C}">
      <dsp:nvSpPr>
        <dsp:cNvPr id="0" name=""/>
        <dsp:cNvSpPr/>
      </dsp:nvSpPr>
      <dsp:spPr>
        <a:xfrm>
          <a:off x="0" y="474025"/>
          <a:ext cx="8784976" cy="1415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92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500" kern="1200"/>
            <a:t>Разработан программный комплекс</a:t>
          </a:r>
          <a:r>
            <a:rPr lang="en-US" sz="1500" kern="1200"/>
            <a:t>,</a:t>
          </a:r>
          <a:r>
            <a:rPr lang="ru-RU" sz="1500" kern="1200"/>
            <a:t> эффективно решающий задачу классификации зашумленных данных</a:t>
          </a:r>
          <a:r>
            <a:rPr lang="en-US" sz="1500" kern="1200"/>
            <a:t>;</a:t>
          </a:r>
          <a:endParaRPr lang="ru-RU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500" kern="1200"/>
            <a:t>Предложен и реализован адаптивный ансамблевый метод</a:t>
          </a:r>
          <a:r>
            <a:rPr lang="en-US" sz="1500" kern="1200"/>
            <a:t>,</a:t>
          </a:r>
          <a:r>
            <a:rPr lang="ru-RU" sz="1500" kern="1200"/>
            <a:t> сохраняющий нейронную сеть в качестве центрального элемента</a:t>
          </a:r>
          <a:r>
            <a:rPr lang="en-US" sz="1500" kern="1200"/>
            <a:t>;</a:t>
          </a:r>
          <a:endParaRPr lang="ru-RU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500" kern="1200"/>
            <a:t>Экспериментально доказана высокая эффективность и устойчивость предложенного подхода по сравнению с базовыми аналогами.</a:t>
          </a:r>
        </a:p>
      </dsp:txBody>
      <dsp:txXfrm>
        <a:off x="0" y="474025"/>
        <a:ext cx="8784976" cy="1415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54BB9-E645-4BD8-8E60-881780AEB57C}">
      <dsp:nvSpPr>
        <dsp:cNvPr id="0" name=""/>
        <dsp:cNvSpPr/>
      </dsp:nvSpPr>
      <dsp:spPr>
        <a:xfrm>
          <a:off x="0" y="130133"/>
          <a:ext cx="8784976" cy="407745"/>
        </a:xfrm>
        <a:prstGeom prst="roundRect">
          <a:avLst/>
        </a:prstGeom>
        <a:solidFill>
          <a:schemeClr val="bg2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1" kern="1200" dirty="0">
              <a:solidFill>
                <a:schemeClr val="tx1"/>
              </a:solidFill>
            </a:rPr>
            <a:t>Перспективы развития</a:t>
          </a:r>
          <a:r>
            <a:rPr lang="en-US" sz="1700" b="1" kern="1200" dirty="0">
              <a:solidFill>
                <a:schemeClr val="tx1"/>
              </a:solidFill>
            </a:rPr>
            <a:t>:</a:t>
          </a:r>
          <a:endParaRPr lang="ru-RU" sz="1700" kern="1200" dirty="0">
            <a:solidFill>
              <a:schemeClr val="tx1"/>
            </a:solidFill>
          </a:endParaRPr>
        </a:p>
      </dsp:txBody>
      <dsp:txXfrm>
        <a:off x="19904" y="150037"/>
        <a:ext cx="8745168" cy="367937"/>
      </dsp:txXfrm>
    </dsp:sp>
    <dsp:sp modelId="{FA59A031-2D67-4E4C-84BD-435461F9BB14}">
      <dsp:nvSpPr>
        <dsp:cNvPr id="0" name=""/>
        <dsp:cNvSpPr/>
      </dsp:nvSpPr>
      <dsp:spPr>
        <a:xfrm>
          <a:off x="0" y="537878"/>
          <a:ext cx="8784976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92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/>
            <a:t>Расширение набора поддерживаемых типов шума и методов предобработки</a:t>
          </a:r>
          <a:r>
            <a:rPr lang="en-US" sz="1300" kern="1200"/>
            <a:t>;</a:t>
          </a:r>
          <a:endParaRPr lang="ru-RU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/>
            <a:t>Оптимизация производительности для работы с большими объемами</a:t>
          </a:r>
          <a:r>
            <a:rPr lang="en-US" sz="1300" kern="1200"/>
            <a:t>;</a:t>
          </a:r>
          <a:endParaRPr lang="ru-RU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/>
            <a:t>Реализация распределенной версии комплекса для повышения вычислительной эффективности. </a:t>
          </a:r>
        </a:p>
      </dsp:txBody>
      <dsp:txXfrm>
        <a:off x="0" y="537878"/>
        <a:ext cx="8784976" cy="6862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4A596-72E5-4419-88E9-EE3CFB326DBD}" type="datetimeFigureOut">
              <a:rPr lang="ru-RU" smtClean="0"/>
              <a:t>15.06.2025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BB172B-CDA0-46C0-A298-0ACFB08CDA8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473166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6BE67-D6CA-4878-BC73-6D05902676FE}" type="datetimeFigureOut">
              <a:rPr lang="ru-RU" smtClean="0"/>
              <a:t>15.06.2025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35D96-F751-4184-AD8F-F1BDDB583F4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16534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blipFill dpi="0" rotWithShape="1">
          <a:blip r:embed="rId2">
            <a:lum/>
          </a:blip>
          <a:srcRect/>
          <a:tile tx="0" ty="0" sx="38000" sy="38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33982"/>
            <a:ext cx="8229600" cy="63757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>
                <a:latin typeface="Avenir Next Cyr" panose="020B0503020202020204" pitchFamily="34" charset="-52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A18EB61-9EBD-44E2-9C41-DDD2243C44D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3"/>
          </p:nvPr>
        </p:nvSpPr>
        <p:spPr>
          <a:xfrm>
            <a:off x="457200" y="1131888"/>
            <a:ext cx="8229600" cy="36001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0" indent="-180000">
              <a:spcBef>
                <a:spcPts val="0"/>
              </a:spcBef>
              <a:buFont typeface="Arial" panose="020B0604020202020204" pitchFamily="34" charset="0"/>
              <a:buChar char="•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834956"/>
            <a:ext cx="5698976" cy="2738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38" indent="0">
              <a:buNone/>
              <a:defRPr sz="1200"/>
            </a:lvl2pPr>
            <a:lvl3pPr marL="1219076" indent="0">
              <a:buNone/>
              <a:defRPr sz="1050"/>
            </a:lvl3pPr>
            <a:lvl4pPr marL="1828616" indent="0">
              <a:buNone/>
              <a:defRPr sz="1000"/>
            </a:lvl4pPr>
            <a:lvl5pPr marL="2438155" indent="0">
              <a:buNone/>
              <a:defRPr sz="1000"/>
            </a:lvl5pPr>
          </a:lstStyle>
          <a:p>
            <a:pPr lvl="0"/>
            <a:r>
              <a:rPr lang="en-US" dirty="0" err="1"/>
              <a:t>Источник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651" y="172893"/>
            <a:ext cx="631813" cy="59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04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A18EB61-9EBD-44E2-9C41-DDD2243C44D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4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834956"/>
            <a:ext cx="5698976" cy="2738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38" indent="0">
              <a:buNone/>
              <a:defRPr sz="1200"/>
            </a:lvl2pPr>
            <a:lvl3pPr marL="1219076" indent="0">
              <a:buNone/>
              <a:defRPr sz="1050"/>
            </a:lvl3pPr>
            <a:lvl4pPr marL="1828616" indent="0">
              <a:buNone/>
              <a:defRPr sz="1000"/>
            </a:lvl4pPr>
            <a:lvl5pPr marL="2438155" indent="0">
              <a:buNone/>
              <a:defRPr sz="1000"/>
            </a:lvl5pPr>
          </a:lstStyle>
          <a:p>
            <a:pPr lvl="0"/>
            <a:r>
              <a:rPr lang="en-US" dirty="0" err="1"/>
              <a:t>Источник</a:t>
            </a: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9183E4-CA22-45F8-A3B3-D46ABF77E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78B809-2500-44A3-AAE3-B94B1D75F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1F9EB2-F527-43D3-A56C-9181371FB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CF8B-1DC1-4902-8851-EBC98DC26368}" type="datetimeFigureOut">
              <a:rPr lang="ru-RU" smtClean="0"/>
              <a:pPr/>
              <a:t>15.06.2025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86836B-53F8-4A8C-B1F7-4B284950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4CB710-3F39-4EC1-8A9D-7BCB0C4A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5B7A9-8D13-4B3D-B73A-75392922BCD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853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172400" y="4834956"/>
            <a:ext cx="514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8EB61-9EBD-44E2-9C41-DDD2243C44D8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698" r:id="rId2"/>
    <p:sldLayoutId id="2147483747" r:id="rId3"/>
  </p:sldLayoutIdLst>
  <p:hf hdr="0" ftr="0" dt="0"/>
  <p:txStyles>
    <p:titleStyle>
      <a:lvl1pPr algn="ctr" defTabSz="121907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4" indent="-457154" algn="l" defTabSz="1219078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01" indent="-380963" algn="l" defTabSz="1219078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7" indent="-304771" algn="l" defTabSz="12190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87" indent="-304771" algn="l" defTabSz="1219078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26" indent="-304771" algn="l" defTabSz="1219078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464" indent="-304771" algn="l" defTabSz="121907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005" indent="-304771" algn="l" defTabSz="121907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4" indent="-304771" algn="l" defTabSz="121907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083" indent="-304771" algn="l" defTabSz="121907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4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Главная страница">
            <a:extLst>
              <a:ext uri="{FF2B5EF4-FFF2-40B4-BE49-F238E27FC236}">
                <a16:creationId xmlns:a16="http://schemas.microsoft.com/office/drawing/2014/main" id="{165E6F83-72FA-5E3D-98A9-B63ADC16D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056" y="3819676"/>
            <a:ext cx="1598315" cy="1112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8B12F5-A4C4-4148-8932-4BBD4AABB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916" y="207961"/>
            <a:ext cx="7781628" cy="668328"/>
          </a:xfrm>
        </p:spPr>
        <p:txBody>
          <a:bodyPr>
            <a:normAutofit/>
          </a:bodyPr>
          <a:lstStyle/>
          <a:p>
            <a:pPr algn="ctr"/>
            <a:r>
              <a:rPr lang="ru-RU" alt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 </a:t>
            </a:r>
            <a:br>
              <a:rPr lang="ru-RU" altLang="ru-RU" sz="1200" dirty="0"/>
            </a:br>
            <a:endParaRPr lang="ru-RU" sz="1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1D6AA00-02FA-4C4E-BED4-C94104369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829" y="3473799"/>
            <a:ext cx="7543800" cy="140134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buSzPct val="85000"/>
              <a:defRPr/>
            </a:pPr>
            <a:r>
              <a:rPr lang="ru-RU" b="1" spc="188" dirty="0"/>
              <a:t>			</a:t>
            </a:r>
            <a:r>
              <a:rPr lang="ru-RU" sz="1500" b="1" spc="188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</a:t>
            </a:r>
          </a:p>
          <a:p>
            <a:pPr algn="l">
              <a:lnSpc>
                <a:spcPct val="100000"/>
              </a:lnSpc>
              <a:spcBef>
                <a:spcPct val="20000"/>
              </a:spcBef>
              <a:buSzPct val="85000"/>
              <a:defRPr/>
            </a:pPr>
            <a:r>
              <a:rPr lang="ru-RU" sz="1500" b="1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</a:t>
            </a:r>
            <a:r>
              <a:rPr lang="ru-RU" sz="1500" b="1" u="sng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Швец Г.В.</a:t>
            </a:r>
            <a:endParaRPr lang="en-US" sz="1500" b="1" u="sng" spc="1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ct val="20000"/>
              </a:spcBef>
              <a:buSzPct val="85000"/>
              <a:defRPr/>
            </a:pPr>
            <a:r>
              <a:rPr lang="ru-RU" sz="1500" b="1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1500" b="1" u="sng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А-06м-23</a:t>
            </a:r>
          </a:p>
          <a:p>
            <a:pPr algn="l">
              <a:lnSpc>
                <a:spcPct val="100000"/>
              </a:lnSpc>
              <a:spcBef>
                <a:spcPct val="20000"/>
              </a:spcBef>
              <a:buSzPct val="85000"/>
              <a:defRPr/>
            </a:pPr>
            <a:r>
              <a:rPr lang="ru-RU" sz="1500" b="1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sz="1500" b="1" u="sng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</a:t>
            </a:r>
            <a:r>
              <a:rPr lang="en-US" sz="1500" b="1" u="sng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500" b="1" u="sng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доцент Фомина М.В.</a:t>
            </a:r>
            <a:r>
              <a:rPr lang="ru-RU" sz="1500" b="1" spc="188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Pct val="85000"/>
              <a:defRPr/>
            </a:pPr>
            <a:endParaRPr lang="ru-RU" sz="1500" b="1" spc="188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SzPct val="85000"/>
              <a:defRPr/>
            </a:pPr>
            <a:r>
              <a:rPr lang="ru-RU" sz="1500" b="1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2025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750B9E-FF45-4596-B150-26B80D008C94}"/>
              </a:ext>
            </a:extLst>
          </p:cNvPr>
          <p:cNvSpPr/>
          <p:nvPr/>
        </p:nvSpPr>
        <p:spPr>
          <a:xfrm>
            <a:off x="2134282" y="2124212"/>
            <a:ext cx="4870463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accent1"/>
              </a:buClr>
              <a:buSzPct val="85000"/>
            </a:pPr>
            <a:r>
              <a:rPr lang="ru-RU" sz="1350" b="1" cap="all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квалификационной работа (магистерская диссертация) по теме</a:t>
            </a:r>
            <a:r>
              <a:rPr lang="en-US" sz="1350" b="1" cap="all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350" b="1" cap="all" spc="1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F5A7674-65C7-49D6-BD49-F58A3C8540AF}"/>
              </a:ext>
            </a:extLst>
          </p:cNvPr>
          <p:cNvSpPr/>
          <p:nvPr/>
        </p:nvSpPr>
        <p:spPr>
          <a:xfrm>
            <a:off x="1669020" y="2761708"/>
            <a:ext cx="58009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программного комплекса для решения задачи классификации зашумленных данных на основе возможностей нейронных сетей»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5803DDA0-771B-44F3-BA92-3F170F2F6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 flipV="1">
            <a:off x="8515350" y="5411856"/>
            <a:ext cx="981489" cy="402535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32" name="Picture 8" descr="Официальная символика">
            <a:extLst>
              <a:ext uri="{FF2B5EF4-FFF2-40B4-BE49-F238E27FC236}">
                <a16:creationId xmlns:a16="http://schemas.microsoft.com/office/drawing/2014/main" id="{2CC890B9-0C46-6A50-D3B3-3F60A19AE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227" y="802319"/>
            <a:ext cx="4156576" cy="127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365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0A66F22-AB76-4792-9C4C-60DD46A3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31CAF5-0B1E-4F56-806E-FEB22AC1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D5B7A9-8D13-4B3D-B73A-75392922BCD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7BF38A27-F20F-456D-83BD-AF2347024EC0}"/>
              </a:ext>
            </a:extLst>
          </p:cNvPr>
          <p:cNvSpPr/>
          <p:nvPr/>
        </p:nvSpPr>
        <p:spPr>
          <a:xfrm>
            <a:off x="153420" y="1060895"/>
            <a:ext cx="3050427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300"/>
              </a:lnSpc>
            </a:pPr>
            <a:r>
              <a:rPr lang="en-US" sz="11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Экспоненциальный рост объемов данных:</a:t>
            </a:r>
            <a:endParaRPr lang="en-US" sz="1100" b="1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EB320DFC-9F09-4723-A165-1338AD7B3B79}"/>
              </a:ext>
            </a:extLst>
          </p:cNvPr>
          <p:cNvSpPr/>
          <p:nvPr/>
        </p:nvSpPr>
        <p:spPr>
          <a:xfrm>
            <a:off x="153420" y="1351964"/>
            <a:ext cx="3554483" cy="360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 2025 году объемы данных достигнут 175 зеттабайт. Это создает новые вызовы для их обработки.</a:t>
            </a:r>
            <a:endParaRPr lang="en-US" sz="1100" dirty="0"/>
          </a:p>
        </p:txBody>
      </p:sp>
      <p:pic>
        <p:nvPicPr>
          <p:cNvPr id="32" name="Image 0">
            <a:extLst>
              <a:ext uri="{FF2B5EF4-FFF2-40B4-BE49-F238E27FC236}">
                <a16:creationId xmlns:a16="http://schemas.microsoft.com/office/drawing/2014/main" id="{F2ADB4DC-2BE6-4962-AF3E-C1CF781B7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06" y="1779662"/>
            <a:ext cx="3991473" cy="3168352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33" name="Text 3">
            <a:extLst>
              <a:ext uri="{FF2B5EF4-FFF2-40B4-BE49-F238E27FC236}">
                <a16:creationId xmlns:a16="http://schemas.microsoft.com/office/drawing/2014/main" id="{E3428CD4-533B-44E8-9A26-FAC921FB7E23}"/>
              </a:ext>
            </a:extLst>
          </p:cNvPr>
          <p:cNvSpPr/>
          <p:nvPr/>
        </p:nvSpPr>
        <p:spPr>
          <a:xfrm>
            <a:off x="4336666" y="1060895"/>
            <a:ext cx="2395573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1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Неизбежное присутствие шума:</a:t>
            </a:r>
            <a:endParaRPr lang="en-US" sz="1100" b="1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E4EB43B0-CB9C-45D6-8D72-CD2CA97EAA77}"/>
              </a:ext>
            </a:extLst>
          </p:cNvPr>
          <p:cNvSpPr/>
          <p:nvPr/>
        </p:nvSpPr>
        <p:spPr>
          <a:xfrm>
            <a:off x="4336666" y="1358794"/>
            <a:ext cx="4350134" cy="491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Ошибки измерений, передачи и хранения неизбежно приводят к зашумленности данных. Традиционные алгоритмы теряют свою эффективность, снижая точность анализа.</a:t>
            </a:r>
            <a:endParaRPr lang="en-US" sz="11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0F7AFEF5-17FC-4FA1-B1B7-C56C3EC25D29}"/>
              </a:ext>
            </a:extLst>
          </p:cNvPr>
          <p:cNvSpPr/>
          <p:nvPr/>
        </p:nvSpPr>
        <p:spPr>
          <a:xfrm>
            <a:off x="4336666" y="1856333"/>
            <a:ext cx="412376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Погрешности измерительных приборов</a:t>
            </a:r>
            <a:endParaRPr lang="en-US" sz="11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DAF84E67-E138-4DA5-8A3F-E15150CC6F18}"/>
              </a:ext>
            </a:extLst>
          </p:cNvPr>
          <p:cNvSpPr/>
          <p:nvPr/>
        </p:nvSpPr>
        <p:spPr>
          <a:xfrm>
            <a:off x="4336666" y="2157171"/>
            <a:ext cx="358437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Сбои при передаче данных</a:t>
            </a:r>
            <a:endParaRPr lang="en-US" sz="11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F6AFC42C-360B-476C-AB0F-DA9CFCD47D6B}"/>
              </a:ext>
            </a:extLst>
          </p:cNvPr>
          <p:cNvSpPr/>
          <p:nvPr/>
        </p:nvSpPr>
        <p:spPr>
          <a:xfrm>
            <a:off x="4336665" y="2458408"/>
            <a:ext cx="358437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Человеческие ошибки при вводе</a:t>
            </a:r>
            <a:endParaRPr lang="en-US" sz="11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8E1D7DA5-CF43-43DB-A287-BA0EBD4789ED}"/>
              </a:ext>
            </a:extLst>
          </p:cNvPr>
          <p:cNvSpPr/>
          <p:nvPr/>
        </p:nvSpPr>
        <p:spPr>
          <a:xfrm>
            <a:off x="4336664" y="2763609"/>
            <a:ext cx="358437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Неконтролируемые внешние воздействия</a:t>
            </a:r>
            <a:endParaRPr lang="en-US" sz="110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6895E472-899A-4088-BBE7-E01A1D8CCE8F}"/>
              </a:ext>
            </a:extLst>
          </p:cNvPr>
          <p:cNvSpPr/>
          <p:nvPr/>
        </p:nvSpPr>
        <p:spPr>
          <a:xfrm>
            <a:off x="4336666" y="3801135"/>
            <a:ext cx="4123766" cy="69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Игнорирование шума приводит к ошибочным решениям в критически важных областях. Это снижает обобщающую способность моделей и вызывает нестабильность предсказаний.</a:t>
            </a:r>
            <a:endParaRPr lang="en-US" sz="11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E0D1D9F-4EFF-4C40-8BA2-624F3837FC32}"/>
              </a:ext>
            </a:extLst>
          </p:cNvPr>
          <p:cNvSpPr/>
          <p:nvPr/>
        </p:nvSpPr>
        <p:spPr>
          <a:xfrm>
            <a:off x="4329451" y="3494130"/>
            <a:ext cx="3259672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sz="1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Последствия</a:t>
            </a:r>
            <a:r>
              <a:rPr lang="en-US" sz="1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ru-RU" sz="1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игнорирования </a:t>
            </a:r>
            <a:r>
              <a:rPr lang="en-US" sz="1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шума</a:t>
            </a:r>
            <a:r>
              <a:rPr lang="ru-RU" sz="1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в данных</a:t>
            </a:r>
            <a:r>
              <a:rPr lang="en-US" sz="12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199000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28A97-45CD-453A-A498-80CEFE32A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работы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397817F-CE4B-4750-B4D0-FE6C5C84B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3</a:t>
            </a:fld>
            <a:endParaRPr lang="ru-RU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4C27C5F-B44A-4FE5-B255-1C77E63BE452}"/>
              </a:ext>
            </a:extLst>
          </p:cNvPr>
          <p:cNvSpPr/>
          <p:nvPr/>
        </p:nvSpPr>
        <p:spPr>
          <a:xfrm>
            <a:off x="179512" y="1034600"/>
            <a:ext cx="1008112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sz="1100" b="1" dirty="0">
                <a:latin typeface="Raleway" pitchFamily="2" charset="-52"/>
              </a:rPr>
              <a:t>Цель работы</a:t>
            </a:r>
            <a:r>
              <a:rPr lang="en-US" sz="1100" b="1" dirty="0">
                <a:latin typeface="Raleway" pitchFamily="2" charset="-52"/>
              </a:rPr>
              <a:t>: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F2A938B-9D7A-4281-90F8-03FE88C2A779}"/>
              </a:ext>
            </a:extLst>
          </p:cNvPr>
          <p:cNvSpPr/>
          <p:nvPr/>
        </p:nvSpPr>
        <p:spPr>
          <a:xfrm>
            <a:off x="176107" y="1295737"/>
            <a:ext cx="8568952" cy="345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100" dirty="0">
                <a:latin typeface="Roboto" panose="02000000000000000000" pitchFamily="2" charset="0"/>
                <a:ea typeface="Roboto" panose="02000000000000000000" pitchFamily="2" charset="0"/>
              </a:rPr>
              <a:t>Разработка программного комплекса для решения задачи классификации зашумленных данных на основе возможностей нейронных сетей.</a:t>
            </a:r>
            <a:endParaRPr lang="en-US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1D20890-BD8D-48B8-A7E2-2C193910815F}"/>
              </a:ext>
            </a:extLst>
          </p:cNvPr>
          <p:cNvSpPr/>
          <p:nvPr/>
        </p:nvSpPr>
        <p:spPr>
          <a:xfrm>
            <a:off x="179512" y="1558776"/>
            <a:ext cx="1008112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ru-RU" sz="1100" b="1" dirty="0">
                <a:latin typeface="Raleway" pitchFamily="2" charset="-52"/>
              </a:rPr>
              <a:t>Задачи</a:t>
            </a:r>
            <a:r>
              <a:rPr lang="en-US" sz="1100" b="1" dirty="0">
                <a:latin typeface="Raleway" pitchFamily="2" charset="-52"/>
              </a:rPr>
              <a:t>:</a:t>
            </a:r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ABD9C852-7296-4BDD-BE08-9DD4F4FC0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2" y="1851670"/>
            <a:ext cx="424148" cy="508988"/>
          </a:xfrm>
          <a:prstGeom prst="rect">
            <a:avLst/>
          </a:prstGeom>
        </p:spPr>
      </p:pic>
      <p:sp>
        <p:nvSpPr>
          <p:cNvPr id="26" name="Text 3">
            <a:extLst>
              <a:ext uri="{FF2B5EF4-FFF2-40B4-BE49-F238E27FC236}">
                <a16:creationId xmlns:a16="http://schemas.microsoft.com/office/drawing/2014/main" id="{5B55E21E-2422-4241-91D6-C71A4303D1E5}"/>
              </a:ext>
            </a:extLst>
          </p:cNvPr>
          <p:cNvSpPr/>
          <p:nvPr/>
        </p:nvSpPr>
        <p:spPr>
          <a:xfrm>
            <a:off x="1200508" y="1963663"/>
            <a:ext cx="2579403" cy="201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4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Анализ современных методов</a:t>
            </a:r>
            <a:endParaRPr lang="en-US" sz="1400" b="1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C0A20345-66CB-4C00-B11D-0FD6880330E1}"/>
              </a:ext>
            </a:extLst>
          </p:cNvPr>
          <p:cNvSpPr/>
          <p:nvPr/>
        </p:nvSpPr>
        <p:spPr>
          <a:xfrm>
            <a:off x="1200510" y="2139702"/>
            <a:ext cx="3875546" cy="17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6"/>
              </a:lnSpc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Изучение подходов к классификации зашумленных данных.</a:t>
            </a:r>
            <a:endParaRPr lang="en-US" sz="1100" dirty="0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F6DBF1A9-3577-4954-A0E2-AFC6F96F3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52" y="2524001"/>
            <a:ext cx="424148" cy="508988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4BA9F2D1-E0DD-40B9-A32F-9ADA43AA3038}"/>
              </a:ext>
            </a:extLst>
          </p:cNvPr>
          <p:cNvSpPr/>
          <p:nvPr/>
        </p:nvSpPr>
        <p:spPr>
          <a:xfrm>
            <a:off x="1200509" y="2635993"/>
            <a:ext cx="2579402" cy="176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4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Проектирование архитектуры</a:t>
            </a:r>
            <a:endParaRPr lang="en-US" sz="1400" b="1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495A5BF6-324B-4CEC-90C8-E23CB6431650}"/>
              </a:ext>
            </a:extLst>
          </p:cNvPr>
          <p:cNvSpPr/>
          <p:nvPr/>
        </p:nvSpPr>
        <p:spPr>
          <a:xfrm>
            <a:off x="1200510" y="2812946"/>
            <a:ext cx="3515506" cy="190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6"/>
              </a:lnSpc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нейронной сети для различных видов шума.</a:t>
            </a:r>
            <a:endParaRPr lang="en-US" sz="1100" dirty="0"/>
          </a:p>
        </p:txBody>
      </p:sp>
      <p:pic>
        <p:nvPicPr>
          <p:cNvPr id="31" name="Image 2" descr="preencoded.png">
            <a:extLst>
              <a:ext uri="{FF2B5EF4-FFF2-40B4-BE49-F238E27FC236}">
                <a16:creationId xmlns:a16="http://schemas.microsoft.com/office/drawing/2014/main" id="{911C3E57-AD9F-4126-97F1-C10022676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52" y="3196332"/>
            <a:ext cx="424148" cy="508988"/>
          </a:xfrm>
          <a:prstGeom prst="rect">
            <a:avLst/>
          </a:prstGeom>
        </p:spPr>
      </p:pic>
      <p:sp>
        <p:nvSpPr>
          <p:cNvPr id="32" name="Text 7">
            <a:extLst>
              <a:ext uri="{FF2B5EF4-FFF2-40B4-BE49-F238E27FC236}">
                <a16:creationId xmlns:a16="http://schemas.microsoft.com/office/drawing/2014/main" id="{67A733E2-46CE-416C-A78A-2B254CB0BF0F}"/>
              </a:ext>
            </a:extLst>
          </p:cNvPr>
          <p:cNvSpPr/>
          <p:nvPr/>
        </p:nvSpPr>
        <p:spPr>
          <a:xfrm>
            <a:off x="1200508" y="3308324"/>
            <a:ext cx="2867435" cy="190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4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Создание адаптивного ансамбля</a:t>
            </a:r>
            <a:endParaRPr lang="en-US" sz="1400" b="1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94FA8FE5-7CEE-47E8-ABE2-EE54DE60AF64}"/>
              </a:ext>
            </a:extLst>
          </p:cNvPr>
          <p:cNvSpPr/>
          <p:nvPr/>
        </p:nvSpPr>
        <p:spPr>
          <a:xfrm>
            <a:off x="1200510" y="3507854"/>
            <a:ext cx="4883658" cy="19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6"/>
              </a:lnSpc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</a:t>
            </a:r>
            <a:r>
              <a:rPr lang="ru-RU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адаптивного ансамбля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r>
              <a:rPr lang="ru-RU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во главе которого стоит нейронная сеть.</a:t>
            </a:r>
            <a:endParaRPr lang="en-US" sz="1100" dirty="0"/>
          </a:p>
        </p:txBody>
      </p:sp>
      <p:pic>
        <p:nvPicPr>
          <p:cNvPr id="34" name="Image 3" descr="preencoded.png">
            <a:extLst>
              <a:ext uri="{FF2B5EF4-FFF2-40B4-BE49-F238E27FC236}">
                <a16:creationId xmlns:a16="http://schemas.microsoft.com/office/drawing/2014/main" id="{97A85049-84F2-4290-AEDA-910391043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252" y="3868663"/>
            <a:ext cx="424148" cy="508988"/>
          </a:xfrm>
          <a:prstGeom prst="rect">
            <a:avLst/>
          </a:prstGeom>
        </p:spPr>
      </p:pic>
      <p:sp>
        <p:nvSpPr>
          <p:cNvPr id="35" name="Text 9">
            <a:extLst>
              <a:ext uri="{FF2B5EF4-FFF2-40B4-BE49-F238E27FC236}">
                <a16:creationId xmlns:a16="http://schemas.microsoft.com/office/drawing/2014/main" id="{35FD8F96-043D-488D-AE39-32591B77853A}"/>
              </a:ext>
            </a:extLst>
          </p:cNvPr>
          <p:cNvSpPr/>
          <p:nvPr/>
        </p:nvSpPr>
        <p:spPr>
          <a:xfrm>
            <a:off x="1200508" y="3980656"/>
            <a:ext cx="3299483" cy="190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4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Реализация программного комплекса</a:t>
            </a:r>
            <a:endParaRPr lang="en-US" sz="1400" b="1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D03BE866-6E5F-49E7-A5E2-DDEB76BF4FCE}"/>
              </a:ext>
            </a:extLst>
          </p:cNvPr>
          <p:cNvSpPr/>
          <p:nvPr/>
        </p:nvSpPr>
        <p:spPr>
          <a:xfrm>
            <a:off x="1200510" y="4155926"/>
            <a:ext cx="5243698" cy="190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6"/>
              </a:lnSpc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</a:t>
            </a:r>
            <a:r>
              <a:rPr lang="ru-RU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программного комплекса 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 графическим интерфейсом пользователя.</a:t>
            </a:r>
            <a:endParaRPr lang="en-US" sz="1100" dirty="0"/>
          </a:p>
        </p:txBody>
      </p:sp>
      <p:pic>
        <p:nvPicPr>
          <p:cNvPr id="37" name="Image 4" descr="preencoded.png">
            <a:extLst>
              <a:ext uri="{FF2B5EF4-FFF2-40B4-BE49-F238E27FC236}">
                <a16:creationId xmlns:a16="http://schemas.microsoft.com/office/drawing/2014/main" id="{35A5FF89-D753-4B1C-97EB-DA20C90B82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252" y="4540994"/>
            <a:ext cx="424148" cy="508988"/>
          </a:xfrm>
          <a:prstGeom prst="rect">
            <a:avLst/>
          </a:prstGeom>
        </p:spPr>
      </p:pic>
      <p:sp>
        <p:nvSpPr>
          <p:cNvPr id="38" name="Text 11">
            <a:extLst>
              <a:ext uri="{FF2B5EF4-FFF2-40B4-BE49-F238E27FC236}">
                <a16:creationId xmlns:a16="http://schemas.microsoft.com/office/drawing/2014/main" id="{FBD521E4-6131-4CF5-BE9B-92559D502507}"/>
              </a:ext>
            </a:extLst>
          </p:cNvPr>
          <p:cNvSpPr/>
          <p:nvPr/>
        </p:nvSpPr>
        <p:spPr>
          <a:xfrm>
            <a:off x="1200510" y="4652986"/>
            <a:ext cx="2723418" cy="181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140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Экспериментальная валидация</a:t>
            </a:r>
            <a:endParaRPr lang="en-US" sz="1400" b="1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A2879010-040B-4133-A240-D30165F1B1D4}"/>
              </a:ext>
            </a:extLst>
          </p:cNvPr>
          <p:cNvSpPr/>
          <p:nvPr/>
        </p:nvSpPr>
        <p:spPr>
          <a:xfrm>
            <a:off x="1200510" y="4822883"/>
            <a:ext cx="3803538" cy="190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6"/>
              </a:lnSpc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Подтверждение эффективности разработанного решения.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81957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современных подходов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4</a:t>
            </a:fld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DF8AB43-1FAB-419E-8368-14630CFAFC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2996"/>
            <a:ext cx="9144000" cy="344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058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шума в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5</a:t>
            </a:fld>
            <a:endParaRPr lang="ru-RU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C2A16F6-0FA0-4AF0-9263-6D495A91BDB8}"/>
              </a:ext>
            </a:extLst>
          </p:cNvPr>
          <p:cNvSpPr/>
          <p:nvPr/>
        </p:nvSpPr>
        <p:spPr>
          <a:xfrm>
            <a:off x="174750" y="1100079"/>
            <a:ext cx="4909840" cy="3434283"/>
          </a:xfrm>
          <a:prstGeom prst="roundRect">
            <a:avLst>
              <a:gd name="adj" fmla="val 140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94065EF-302C-4AFF-BFCA-23D8771741AD}"/>
              </a:ext>
            </a:extLst>
          </p:cNvPr>
          <p:cNvSpPr/>
          <p:nvPr/>
        </p:nvSpPr>
        <p:spPr>
          <a:xfrm>
            <a:off x="179512" y="1104842"/>
            <a:ext cx="4899794" cy="5155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68A98B5-2117-4388-9653-319DF8547BA5}"/>
              </a:ext>
            </a:extLst>
          </p:cNvPr>
          <p:cNvSpPr/>
          <p:nvPr/>
        </p:nvSpPr>
        <p:spPr>
          <a:xfrm>
            <a:off x="295003" y="1178586"/>
            <a:ext cx="140077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 шума</a:t>
            </a:r>
            <a:endParaRPr lang="en-US" sz="875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BFB234B-3823-4D0C-80B1-A02A2D8F43A9}"/>
              </a:ext>
            </a:extLst>
          </p:cNvPr>
          <p:cNvSpPr/>
          <p:nvPr/>
        </p:nvSpPr>
        <p:spPr>
          <a:xfrm>
            <a:off x="1930476" y="1178586"/>
            <a:ext cx="1398389" cy="368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Математическое описание</a:t>
            </a:r>
            <a:endParaRPr lang="en-US" sz="875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AD69515-7D92-4880-BAD6-0E0A6E557BED}"/>
              </a:ext>
            </a:extLst>
          </p:cNvPr>
          <p:cNvSpPr/>
          <p:nvPr/>
        </p:nvSpPr>
        <p:spPr>
          <a:xfrm>
            <a:off x="3563566" y="1178586"/>
            <a:ext cx="140077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Характеристики</a:t>
            </a:r>
            <a:endParaRPr lang="en-US" sz="875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0F65B32-011F-43EC-BFAF-118DD120C05B}"/>
              </a:ext>
            </a:extLst>
          </p:cNvPr>
          <p:cNvSpPr/>
          <p:nvPr/>
        </p:nvSpPr>
        <p:spPr>
          <a:xfrm>
            <a:off x="179512" y="1620382"/>
            <a:ext cx="4899794" cy="5155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78311A89-028F-4D4E-B596-359F951B6737}"/>
              </a:ext>
            </a:extLst>
          </p:cNvPr>
          <p:cNvSpPr/>
          <p:nvPr/>
        </p:nvSpPr>
        <p:spPr>
          <a:xfrm>
            <a:off x="295003" y="1694127"/>
            <a:ext cx="140077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Гауссовский</a:t>
            </a:r>
            <a:endParaRPr lang="en-US" sz="875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89E8C8B-67EB-4C3C-86C1-19176A3B3432}"/>
              </a:ext>
            </a:extLst>
          </p:cNvPr>
          <p:cNvSpPr/>
          <p:nvPr/>
        </p:nvSpPr>
        <p:spPr>
          <a:xfrm>
            <a:off x="1930476" y="1694127"/>
            <a:ext cx="1398389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x̃ = x + ε, εN(0,σ²)</a:t>
            </a:r>
            <a:endParaRPr lang="en-US" sz="875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E302A01-7BB5-416B-A5AA-3434F95F060A}"/>
              </a:ext>
            </a:extLst>
          </p:cNvPr>
          <p:cNvSpPr/>
          <p:nvPr/>
        </p:nvSpPr>
        <p:spPr>
          <a:xfrm>
            <a:off x="3563566" y="1694127"/>
            <a:ext cx="1400771" cy="368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Нормальное распределение</a:t>
            </a:r>
            <a:endParaRPr lang="en-US" sz="875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B7196A68-9E24-4583-BDDA-66BFC329F00E}"/>
              </a:ext>
            </a:extLst>
          </p:cNvPr>
          <p:cNvSpPr/>
          <p:nvPr/>
        </p:nvSpPr>
        <p:spPr>
          <a:xfrm>
            <a:off x="179512" y="2135923"/>
            <a:ext cx="4899794" cy="5155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04B8B16-8C54-49A1-B475-F1A6C8ABAEB4}"/>
              </a:ext>
            </a:extLst>
          </p:cNvPr>
          <p:cNvSpPr/>
          <p:nvPr/>
        </p:nvSpPr>
        <p:spPr>
          <a:xfrm>
            <a:off x="295003" y="2209667"/>
            <a:ext cx="140077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Импульсный</a:t>
            </a:r>
            <a:endParaRPr lang="en-US" sz="875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0B933D8-4242-4CBE-B587-34B99D975C53}"/>
              </a:ext>
            </a:extLst>
          </p:cNvPr>
          <p:cNvSpPr/>
          <p:nvPr/>
        </p:nvSpPr>
        <p:spPr>
          <a:xfrm>
            <a:off x="1930476" y="2209667"/>
            <a:ext cx="1398389" cy="368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Редкие выбросы большой амплитуды</a:t>
            </a:r>
            <a:endParaRPr lang="en-US" sz="875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B16F29C-439B-46EB-8199-8358761583E4}"/>
              </a:ext>
            </a:extLst>
          </p:cNvPr>
          <p:cNvSpPr/>
          <p:nvPr/>
        </p:nvSpPr>
        <p:spPr>
          <a:xfrm>
            <a:off x="3563566" y="2209667"/>
            <a:ext cx="1400771" cy="368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Наиболее разрушительный</a:t>
            </a:r>
            <a:endParaRPr lang="en-US" sz="875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8CD26F96-1D23-47E8-852C-5D4EDCE1A50B}"/>
              </a:ext>
            </a:extLst>
          </p:cNvPr>
          <p:cNvSpPr/>
          <p:nvPr/>
        </p:nvSpPr>
        <p:spPr>
          <a:xfrm>
            <a:off x="179512" y="2651464"/>
            <a:ext cx="4899794" cy="5155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8BD8D7BB-C940-4F93-ADDB-1C945E732791}"/>
              </a:ext>
            </a:extLst>
          </p:cNvPr>
          <p:cNvSpPr/>
          <p:nvPr/>
        </p:nvSpPr>
        <p:spPr>
          <a:xfrm>
            <a:off x="295003" y="2725208"/>
            <a:ext cx="140077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Равномерный</a:t>
            </a:r>
            <a:endParaRPr lang="en-US" sz="875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B1C89F96-A531-4AE4-8AEA-84451767547A}"/>
              </a:ext>
            </a:extLst>
          </p:cNvPr>
          <p:cNvSpPr/>
          <p:nvPr/>
        </p:nvSpPr>
        <p:spPr>
          <a:xfrm>
            <a:off x="1930476" y="2725208"/>
            <a:ext cx="1398389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x̃ = x + ε, εU(-a,a)</a:t>
            </a:r>
            <a:endParaRPr lang="en-US" sz="875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0C62A1D6-845A-4028-94B7-86ED61DF46AA}"/>
              </a:ext>
            </a:extLst>
          </p:cNvPr>
          <p:cNvSpPr/>
          <p:nvPr/>
        </p:nvSpPr>
        <p:spPr>
          <a:xfrm>
            <a:off x="3563566" y="2725208"/>
            <a:ext cx="1400771" cy="368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Равномерное распределение</a:t>
            </a:r>
            <a:endParaRPr lang="en-US" sz="875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1820ADFA-81B8-4C23-B484-874A4B5BAB48}"/>
              </a:ext>
            </a:extLst>
          </p:cNvPr>
          <p:cNvSpPr/>
          <p:nvPr/>
        </p:nvSpPr>
        <p:spPr>
          <a:xfrm>
            <a:off x="179512" y="3167005"/>
            <a:ext cx="4899794" cy="3315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2DFBFFB1-8DC6-4D83-996A-C3EB2FA93E8C}"/>
              </a:ext>
            </a:extLst>
          </p:cNvPr>
          <p:cNvSpPr/>
          <p:nvPr/>
        </p:nvSpPr>
        <p:spPr>
          <a:xfrm>
            <a:off x="295003" y="3240749"/>
            <a:ext cx="140077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Мультипликативный</a:t>
            </a:r>
            <a:endParaRPr lang="en-US" sz="875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9009E8E2-B684-4F79-82FB-9E4493653282}"/>
              </a:ext>
            </a:extLst>
          </p:cNvPr>
          <p:cNvSpPr/>
          <p:nvPr/>
        </p:nvSpPr>
        <p:spPr>
          <a:xfrm>
            <a:off x="1930476" y="3240749"/>
            <a:ext cx="1398389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x̃ = x × (1 + ε)</a:t>
            </a:r>
            <a:endParaRPr lang="en-US" sz="875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0CF72FC4-6DAB-425C-8A12-B829D26CD96D}"/>
              </a:ext>
            </a:extLst>
          </p:cNvPr>
          <p:cNvSpPr/>
          <p:nvPr/>
        </p:nvSpPr>
        <p:spPr>
          <a:xfrm>
            <a:off x="3563566" y="3240749"/>
            <a:ext cx="140077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Пропорционален сигналу</a:t>
            </a:r>
            <a:endParaRPr lang="en-US" sz="875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30EA1A0-A47B-4751-8C37-85C0A54F0F94}"/>
              </a:ext>
            </a:extLst>
          </p:cNvPr>
          <p:cNvSpPr/>
          <p:nvPr/>
        </p:nvSpPr>
        <p:spPr>
          <a:xfrm>
            <a:off x="179512" y="3498519"/>
            <a:ext cx="4899794" cy="5155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85BC7A2C-2836-44B0-B69B-9F1F4F1FD584}"/>
              </a:ext>
            </a:extLst>
          </p:cNvPr>
          <p:cNvSpPr/>
          <p:nvPr/>
        </p:nvSpPr>
        <p:spPr>
          <a:xfrm>
            <a:off x="295003" y="3572264"/>
            <a:ext cx="140077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Пропущенные значения</a:t>
            </a:r>
            <a:endParaRPr lang="en-US" sz="875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A8B68E2F-49B5-49F8-AF38-26790254B901}"/>
              </a:ext>
            </a:extLst>
          </p:cNvPr>
          <p:cNvSpPr/>
          <p:nvPr/>
        </p:nvSpPr>
        <p:spPr>
          <a:xfrm>
            <a:off x="1930476" y="3572264"/>
            <a:ext cx="1398389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Отсутствие данных</a:t>
            </a:r>
            <a:endParaRPr lang="en-US" sz="875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41A47851-4542-48CA-837E-F644263FF365}"/>
              </a:ext>
            </a:extLst>
          </p:cNvPr>
          <p:cNvSpPr/>
          <p:nvPr/>
        </p:nvSpPr>
        <p:spPr>
          <a:xfrm>
            <a:off x="3563566" y="3572264"/>
            <a:ext cx="1400771" cy="368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Требует специальной обработки</a:t>
            </a:r>
            <a:endParaRPr lang="en-US" sz="875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3B6FED66-AF3D-42B4-B54F-686EF099CB76}"/>
              </a:ext>
            </a:extLst>
          </p:cNvPr>
          <p:cNvSpPr/>
          <p:nvPr/>
        </p:nvSpPr>
        <p:spPr>
          <a:xfrm>
            <a:off x="179512" y="4014060"/>
            <a:ext cx="4899794" cy="5155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47406F58-C738-432C-86EE-1573D416785B}"/>
              </a:ext>
            </a:extLst>
          </p:cNvPr>
          <p:cNvSpPr/>
          <p:nvPr/>
        </p:nvSpPr>
        <p:spPr>
          <a:xfrm>
            <a:off x="295003" y="4087804"/>
            <a:ext cx="1400771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"Соль и перец"</a:t>
            </a:r>
            <a:endParaRPr lang="en-US" sz="875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0678CF3A-E950-45D0-8167-72FCB5C66E14}"/>
              </a:ext>
            </a:extLst>
          </p:cNvPr>
          <p:cNvSpPr/>
          <p:nvPr/>
        </p:nvSpPr>
        <p:spPr>
          <a:xfrm>
            <a:off x="1930476" y="4087804"/>
            <a:ext cx="1398389" cy="368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Замена на min/max значения</a:t>
            </a:r>
            <a:endParaRPr lang="en-US" sz="875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40A91A5D-28CD-4E1C-9F2E-E60884894496}"/>
              </a:ext>
            </a:extLst>
          </p:cNvPr>
          <p:cNvSpPr/>
          <p:nvPr/>
        </p:nvSpPr>
        <p:spPr>
          <a:xfrm>
            <a:off x="3563566" y="4087804"/>
            <a:ext cx="1400771" cy="368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Частный случай импульсного</a:t>
            </a:r>
            <a:endParaRPr lang="en-US" sz="875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9F04926D-7B02-409F-A310-A7DC1C2790B9}"/>
              </a:ext>
            </a:extLst>
          </p:cNvPr>
          <p:cNvSpPr/>
          <p:nvPr/>
        </p:nvSpPr>
        <p:spPr>
          <a:xfrm>
            <a:off x="174750" y="4663769"/>
            <a:ext cx="4909840" cy="368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875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Влияние шума на классификацию значительно: переобучение на шумовых паттернах, смещение оценок параметров модели и нестабильность процесса оптимизации.</a:t>
            </a:r>
            <a:endParaRPr lang="en-US" sz="875" dirty="0"/>
          </a:p>
        </p:txBody>
      </p:sp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486528B7-A79F-4622-B169-6F093CD29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997" y="1100079"/>
            <a:ext cx="3429000" cy="3734877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413957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программного комплекса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6</a:t>
            </a:fld>
            <a:endParaRPr lang="ru-RU" dirty="0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405D7D6F-CFA0-4296-BF44-FCE9B98A3834}"/>
              </a:ext>
            </a:extLst>
          </p:cNvPr>
          <p:cNvSpPr/>
          <p:nvPr/>
        </p:nvSpPr>
        <p:spPr>
          <a:xfrm>
            <a:off x="4211959" y="1419026"/>
            <a:ext cx="2295674" cy="1043583"/>
          </a:xfrm>
          <a:prstGeom prst="roundRect">
            <a:avLst>
              <a:gd name="adj" fmla="val 5653"/>
            </a:avLst>
          </a:prstGeom>
          <a:solidFill>
            <a:schemeClr val="bg2">
              <a:lumMod val="90000"/>
            </a:schemeClr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AC657EBB-E59A-4663-8D39-F1C6A28946BB}"/>
              </a:ext>
            </a:extLst>
          </p:cNvPr>
          <p:cNvSpPr/>
          <p:nvPr/>
        </p:nvSpPr>
        <p:spPr>
          <a:xfrm>
            <a:off x="4357141" y="1564208"/>
            <a:ext cx="1755800" cy="219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Модульность</a:t>
            </a:r>
            <a:endParaRPr lang="en-US" sz="1375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C9F531A5-025D-4E4C-B368-8F4F3C859BE5}"/>
              </a:ext>
            </a:extLst>
          </p:cNvPr>
          <p:cNvSpPr/>
          <p:nvPr/>
        </p:nvSpPr>
        <p:spPr>
          <a:xfrm>
            <a:off x="4357141" y="1867966"/>
            <a:ext cx="2005310" cy="4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94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Обеспечивает слабую связанность компонентов.</a:t>
            </a:r>
            <a:endParaRPr lang="en-US" sz="1094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7EC8996B-9BEF-442B-8B1E-B935F922FF0B}"/>
              </a:ext>
            </a:extLst>
          </p:cNvPr>
          <p:cNvSpPr/>
          <p:nvPr/>
        </p:nvSpPr>
        <p:spPr>
          <a:xfrm>
            <a:off x="6648053" y="1419026"/>
            <a:ext cx="2295748" cy="1043583"/>
          </a:xfrm>
          <a:prstGeom prst="roundRect">
            <a:avLst>
              <a:gd name="adj" fmla="val 5653"/>
            </a:avLst>
          </a:prstGeom>
          <a:solidFill>
            <a:schemeClr val="bg2">
              <a:lumMod val="90000"/>
            </a:schemeClr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84D96882-BE99-44F3-A134-23231755DBFA}"/>
              </a:ext>
            </a:extLst>
          </p:cNvPr>
          <p:cNvSpPr/>
          <p:nvPr/>
        </p:nvSpPr>
        <p:spPr>
          <a:xfrm>
            <a:off x="6793234" y="1564208"/>
            <a:ext cx="1755800" cy="219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Адаптивность</a:t>
            </a:r>
            <a:endParaRPr lang="en-US" sz="1375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0DA37ECB-C1CF-461C-AFDF-F6AC2CFC8105}"/>
              </a:ext>
            </a:extLst>
          </p:cNvPr>
          <p:cNvSpPr/>
          <p:nvPr/>
        </p:nvSpPr>
        <p:spPr>
          <a:xfrm>
            <a:off x="6793235" y="1867966"/>
            <a:ext cx="2005384" cy="4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94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Автоматическая настройка</a:t>
            </a:r>
            <a:r>
              <a:rPr lang="ru-RU" sz="1094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программного комплекса</a:t>
            </a:r>
            <a:r>
              <a:rPr lang="en-US" sz="1094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94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F065800B-09F1-43B7-95E0-367930DB6A2B}"/>
              </a:ext>
            </a:extLst>
          </p:cNvPr>
          <p:cNvSpPr/>
          <p:nvPr/>
        </p:nvSpPr>
        <p:spPr>
          <a:xfrm>
            <a:off x="4211960" y="2603028"/>
            <a:ext cx="4731841" cy="818853"/>
          </a:xfrm>
          <a:prstGeom prst="roundRect">
            <a:avLst>
              <a:gd name="adj" fmla="val 7205"/>
            </a:avLst>
          </a:prstGeom>
          <a:solidFill>
            <a:schemeClr val="bg2">
              <a:lumMod val="90000"/>
            </a:schemeClr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B3D148A8-9F29-4A7D-8418-4C423A72F132}"/>
              </a:ext>
            </a:extLst>
          </p:cNvPr>
          <p:cNvSpPr/>
          <p:nvPr/>
        </p:nvSpPr>
        <p:spPr>
          <a:xfrm>
            <a:off x="4357141" y="2748210"/>
            <a:ext cx="1755800" cy="219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Расширяемость</a:t>
            </a:r>
            <a:endParaRPr lang="en-US" sz="1375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FC26E6FB-40C5-4337-9D68-CB51755B5488}"/>
              </a:ext>
            </a:extLst>
          </p:cNvPr>
          <p:cNvSpPr/>
          <p:nvPr/>
        </p:nvSpPr>
        <p:spPr>
          <a:xfrm>
            <a:off x="4357141" y="3051968"/>
            <a:ext cx="4441478" cy="224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94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Возможность добавления новых алгоритмов.</a:t>
            </a:r>
            <a:endParaRPr lang="en-US" sz="1094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B535475F-988E-4ABF-A1F3-0D9DBF3BD5E4}"/>
              </a:ext>
            </a:extLst>
          </p:cNvPr>
          <p:cNvSpPr/>
          <p:nvPr/>
        </p:nvSpPr>
        <p:spPr>
          <a:xfrm>
            <a:off x="4211960" y="3579862"/>
            <a:ext cx="4731841" cy="1123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94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Программный комплекс имеет модульную структуру. Это ключевой принцип для обеспечения гибкости и масштабируемости. Адаптивность позволяет системе автоматически подстраиваться под различные типы шума. Расширяемость упрощает интеграцию новых методов и алгоритмов.</a:t>
            </a:r>
            <a:endParaRPr lang="en-US" sz="1094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2E87E87-DCB4-4B62-A417-AA5BD4C090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17" y="987574"/>
            <a:ext cx="3865760" cy="415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3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Нейросетевое ядро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7</a:t>
            </a:fld>
            <a:endParaRPr lang="ru-RU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A3DB067-F099-410B-B0F5-754D48A7A656}"/>
              </a:ext>
            </a:extLst>
          </p:cNvPr>
          <p:cNvSpPr/>
          <p:nvPr/>
        </p:nvSpPr>
        <p:spPr>
          <a:xfrm>
            <a:off x="189456" y="1098902"/>
            <a:ext cx="267742" cy="267742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A0CC216F-7C95-4EC3-A8F2-0B5819F99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68" y="1121188"/>
            <a:ext cx="178519" cy="223168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80F34EC8-22BD-47B2-A7F2-62EB4DB42AA2}"/>
              </a:ext>
            </a:extLst>
          </p:cNvPr>
          <p:cNvSpPr/>
          <p:nvPr/>
        </p:nvSpPr>
        <p:spPr>
          <a:xfrm>
            <a:off x="576186" y="1139755"/>
            <a:ext cx="2246792" cy="39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ru-RU" sz="1156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Глубокая нейронная сеть с</a:t>
            </a:r>
          </a:p>
          <a:p>
            <a:pPr>
              <a:lnSpc>
                <a:spcPts val="1438"/>
              </a:lnSpc>
            </a:pPr>
            <a:r>
              <a:rPr lang="en-US" sz="1156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резидуальными</a:t>
            </a:r>
            <a:r>
              <a:rPr lang="ru-RU" sz="1156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ми</a:t>
            </a:r>
            <a:r>
              <a:rPr lang="en-US" sz="1156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соединения</a:t>
            </a:r>
            <a:endParaRPr lang="en-US" sz="1156" b="1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DC2424E-1E2F-49E7-8B91-190DFC8E0EEA}"/>
              </a:ext>
            </a:extLst>
          </p:cNvPr>
          <p:cNvSpPr/>
          <p:nvPr/>
        </p:nvSpPr>
        <p:spPr>
          <a:xfrm>
            <a:off x="576186" y="1533930"/>
            <a:ext cx="224679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Предотвращают затухание градиентов.</a:t>
            </a:r>
            <a:endParaRPr lang="en-US" sz="906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749DE89-B964-48F4-AA69-F21CAED326FD}"/>
              </a:ext>
            </a:extLst>
          </p:cNvPr>
          <p:cNvSpPr/>
          <p:nvPr/>
        </p:nvSpPr>
        <p:spPr>
          <a:xfrm>
            <a:off x="189456" y="1825332"/>
            <a:ext cx="267742" cy="267742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D012E3BC-F1D2-4A37-8C9D-34D8D5D3A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68" y="1847619"/>
            <a:ext cx="178519" cy="223168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C99E8EB5-4375-4504-8240-AA54D1EE5C9A}"/>
              </a:ext>
            </a:extLst>
          </p:cNvPr>
          <p:cNvSpPr/>
          <p:nvPr/>
        </p:nvSpPr>
        <p:spPr>
          <a:xfrm>
            <a:off x="576186" y="1866186"/>
            <a:ext cx="1487761" cy="185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1156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Batch Normalization</a:t>
            </a:r>
            <a:endParaRPr lang="en-US" sz="1156" b="1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788ED9B-51A2-49A5-A8E4-13A2B92903A1}"/>
              </a:ext>
            </a:extLst>
          </p:cNvPr>
          <p:cNvSpPr/>
          <p:nvPr/>
        </p:nvSpPr>
        <p:spPr>
          <a:xfrm>
            <a:off x="576186" y="2123435"/>
            <a:ext cx="2894864" cy="39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Стабилизирует процесс обучения,</a:t>
            </a:r>
            <a:r>
              <a:rPr lang="ru-RU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путем улучшения </a:t>
            </a:r>
            <a:endParaRPr lang="en-US" sz="906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1469"/>
              </a:lnSpc>
            </a:pPr>
            <a:r>
              <a:rPr lang="ru-RU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устойчивости к выбросам</a:t>
            </a: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06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D76B62C-6930-46C5-9A6C-7921AB9DD20C}"/>
              </a:ext>
            </a:extLst>
          </p:cNvPr>
          <p:cNvSpPr/>
          <p:nvPr/>
        </p:nvSpPr>
        <p:spPr>
          <a:xfrm>
            <a:off x="189456" y="2522659"/>
            <a:ext cx="267742" cy="267742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CBE7FE4C-C7D4-4AAB-B300-0060B1F9F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68" y="2544946"/>
            <a:ext cx="178519" cy="223168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920C68B0-309A-446E-9F4D-B847348D1DC1}"/>
              </a:ext>
            </a:extLst>
          </p:cNvPr>
          <p:cNvSpPr/>
          <p:nvPr/>
        </p:nvSpPr>
        <p:spPr>
          <a:xfrm>
            <a:off x="576186" y="2563513"/>
            <a:ext cx="1487761" cy="185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1156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Focal Loss</a:t>
            </a:r>
            <a:endParaRPr lang="en-US" sz="1156" b="1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D63CDB7-703E-4215-97B7-7920BC966828}"/>
              </a:ext>
            </a:extLst>
          </p:cNvPr>
          <p:cNvSpPr/>
          <p:nvPr/>
        </p:nvSpPr>
        <p:spPr>
          <a:xfrm>
            <a:off x="576186" y="2820762"/>
            <a:ext cx="449513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ru-RU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Улучшенная функция потерь</a:t>
            </a: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r>
              <a:rPr lang="ru-RU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906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30E1F484-9EC0-40F2-BB72-5A9B882546EF}"/>
              </a:ext>
            </a:extLst>
          </p:cNvPr>
          <p:cNvSpPr/>
          <p:nvPr/>
        </p:nvSpPr>
        <p:spPr>
          <a:xfrm>
            <a:off x="186212" y="3070147"/>
            <a:ext cx="267742" cy="267742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5845A2D8-5B46-4FA5-B4FB-FF0FDF141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24" y="3092433"/>
            <a:ext cx="178519" cy="223168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BFCE190E-87B3-4FED-BEE0-E16F69CFB331}"/>
              </a:ext>
            </a:extLst>
          </p:cNvPr>
          <p:cNvSpPr/>
          <p:nvPr/>
        </p:nvSpPr>
        <p:spPr>
          <a:xfrm>
            <a:off x="572942" y="3111000"/>
            <a:ext cx="2126605" cy="185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1156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Автоматическая оптимизация</a:t>
            </a:r>
            <a:endParaRPr lang="en-US" sz="1156" b="1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1E1A1C32-F223-4931-938B-67574B546E93}"/>
              </a:ext>
            </a:extLst>
          </p:cNvPr>
          <p:cNvSpPr/>
          <p:nvPr/>
        </p:nvSpPr>
        <p:spPr>
          <a:xfrm>
            <a:off x="572942" y="3368249"/>
            <a:ext cx="3229715" cy="56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Используется Optuna для гиперпараметров.</a:t>
            </a:r>
            <a:endParaRPr lang="ru-RU" sz="906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1469"/>
              </a:lnSpc>
            </a:pPr>
            <a:r>
              <a:rPr lang="ru-RU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Оптимизация гиперпараметров проходит 50-100 итераций </a:t>
            </a:r>
            <a:endParaRPr lang="en-US" sz="906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1469"/>
              </a:lnSpc>
            </a:pPr>
            <a:r>
              <a:rPr lang="ru-RU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зависимости от</a:t>
            </a: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сложности набора данных.</a:t>
            </a: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8CFDA888-81AF-4B92-893F-13A01AF7533E}"/>
              </a:ext>
            </a:extLst>
          </p:cNvPr>
          <p:cNvSpPr/>
          <p:nvPr/>
        </p:nvSpPr>
        <p:spPr>
          <a:xfrm>
            <a:off x="186212" y="4532700"/>
            <a:ext cx="5179959" cy="569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Эта архитектура нейронной сети с резидуальными соединениями является центральным элементом комплекса. Она спроектирована для эффективной работы с зашумленными данными. </a:t>
            </a:r>
            <a:endParaRPr lang="en-US" sz="906" dirty="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54F62158-73BC-4B94-BB50-E6B005803935}"/>
              </a:ext>
            </a:extLst>
          </p:cNvPr>
          <p:cNvSpPr/>
          <p:nvPr/>
        </p:nvSpPr>
        <p:spPr>
          <a:xfrm>
            <a:off x="191719" y="3936019"/>
            <a:ext cx="234553" cy="234553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26" name="Image 5" descr="preencoded.png">
            <a:extLst>
              <a:ext uri="{FF2B5EF4-FFF2-40B4-BE49-F238E27FC236}">
                <a16:creationId xmlns:a16="http://schemas.microsoft.com/office/drawing/2014/main" id="{C572357A-1FB3-4B9C-9545-9B64E8925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824" y="3955590"/>
            <a:ext cx="156344" cy="195411"/>
          </a:xfrm>
          <a:prstGeom prst="rect">
            <a:avLst/>
          </a:prstGeom>
        </p:spPr>
      </p:pic>
      <p:sp>
        <p:nvSpPr>
          <p:cNvPr id="27" name="Text 14">
            <a:extLst>
              <a:ext uri="{FF2B5EF4-FFF2-40B4-BE49-F238E27FC236}">
                <a16:creationId xmlns:a16="http://schemas.microsoft.com/office/drawing/2014/main" id="{C9667B05-9707-4746-AD32-0FC77AF834C0}"/>
              </a:ext>
            </a:extLst>
          </p:cNvPr>
          <p:cNvSpPr/>
          <p:nvPr/>
        </p:nvSpPr>
        <p:spPr>
          <a:xfrm>
            <a:off x="530527" y="3971812"/>
            <a:ext cx="130313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81"/>
              </a:lnSpc>
            </a:pPr>
            <a:r>
              <a:rPr lang="en-US" sz="1160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Функции активации</a:t>
            </a:r>
            <a:endParaRPr lang="en-US" sz="1160" b="1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643ADCAB-AD4B-4D9C-AC4D-EC77FC8FB768}"/>
              </a:ext>
            </a:extLst>
          </p:cNvPr>
          <p:cNvSpPr/>
          <p:nvPr/>
        </p:nvSpPr>
        <p:spPr>
          <a:xfrm>
            <a:off x="530526" y="4197138"/>
            <a:ext cx="4646489" cy="166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91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Swish — основная функция активации; ReLU, Leaky ReLU, Mish — альтернативные варианты.</a:t>
            </a:r>
            <a:endParaRPr lang="en-US" sz="910" dirty="0"/>
          </a:p>
        </p:txBody>
      </p:sp>
      <p:pic>
        <p:nvPicPr>
          <p:cNvPr id="29" name="Image 0">
            <a:extLst>
              <a:ext uri="{FF2B5EF4-FFF2-40B4-BE49-F238E27FC236}">
                <a16:creationId xmlns:a16="http://schemas.microsoft.com/office/drawing/2014/main" id="{717214A0-E445-4537-9884-9F34D85193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8148" y="1025574"/>
            <a:ext cx="3279328" cy="3809382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2438394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Адаптивный ансамбль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8</a:t>
            </a:fld>
            <a:endParaRPr lang="ru-RU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78F0FA-FDA7-43C6-822A-205FCA9794E5}"/>
              </a:ext>
            </a:extLst>
          </p:cNvPr>
          <p:cNvSpPr/>
          <p:nvPr/>
        </p:nvSpPr>
        <p:spPr>
          <a:xfrm>
            <a:off x="251520" y="1491630"/>
            <a:ext cx="2376264" cy="21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ru-RU" sz="1400" b="1" dirty="0">
                <a:solidFill>
                  <a:srgbClr val="3C3939"/>
                </a:solidFill>
                <a:latin typeface="Raleway" pitchFamily="34" charset="0"/>
              </a:rPr>
              <a:t>Основной классификатор</a:t>
            </a:r>
            <a:r>
              <a:rPr lang="en-US" sz="1400" b="1" dirty="0">
                <a:solidFill>
                  <a:srgbClr val="3C3939"/>
                </a:solidFill>
                <a:latin typeface="Raleway" pitchFamily="34" charset="0"/>
              </a:rPr>
              <a:t>:</a:t>
            </a:r>
            <a:endParaRPr lang="en-US" sz="1400" b="1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0E1263-1427-4686-B6AE-033012454AB6}"/>
              </a:ext>
            </a:extLst>
          </p:cNvPr>
          <p:cNvSpPr/>
          <p:nvPr/>
        </p:nvSpPr>
        <p:spPr>
          <a:xfrm>
            <a:off x="395536" y="1707654"/>
            <a:ext cx="139949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>
              <a:lnSpc>
                <a:spcPts val="1469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Нейронная сеть</a:t>
            </a:r>
            <a:endParaRPr lang="en-US" sz="1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17ADF75-E090-46A3-99DB-1FDEA511331E}"/>
              </a:ext>
            </a:extLst>
          </p:cNvPr>
          <p:cNvSpPr/>
          <p:nvPr/>
        </p:nvSpPr>
        <p:spPr>
          <a:xfrm>
            <a:off x="251520" y="2067694"/>
            <a:ext cx="2664296" cy="21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ru-RU" sz="1400" b="1" dirty="0">
                <a:solidFill>
                  <a:srgbClr val="3C3939"/>
                </a:solidFill>
                <a:latin typeface="Raleway" pitchFamily="34" charset="0"/>
              </a:rPr>
              <a:t>Вспомогательные алгоритмы</a:t>
            </a:r>
            <a:r>
              <a:rPr lang="en-US" sz="1400" b="1" dirty="0">
                <a:solidFill>
                  <a:srgbClr val="3C3939"/>
                </a:solidFill>
                <a:latin typeface="Raleway" pitchFamily="34" charset="0"/>
              </a:rPr>
              <a:t>:</a:t>
            </a:r>
            <a:endParaRPr lang="en-US" sz="1400" b="1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B431FCD-B36B-45B0-AA6F-1D827B106962}"/>
              </a:ext>
            </a:extLst>
          </p:cNvPr>
          <p:cNvSpPr/>
          <p:nvPr/>
        </p:nvSpPr>
        <p:spPr>
          <a:xfrm>
            <a:off x="395536" y="2283718"/>
            <a:ext cx="2448272" cy="1548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71450" indent="-171450">
              <a:lnSpc>
                <a:spcPts val="146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Random Forest</a:t>
            </a:r>
          </a:p>
          <a:p>
            <a:pPr marL="171450" indent="-171450">
              <a:lnSpc>
                <a:spcPts val="146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Gradient Boosting</a:t>
            </a:r>
          </a:p>
          <a:p>
            <a:pPr marL="171450" indent="-171450">
              <a:lnSpc>
                <a:spcPts val="146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Support Vector Machine (SVM)</a:t>
            </a:r>
          </a:p>
          <a:p>
            <a:pPr marL="171450" indent="-171450">
              <a:lnSpc>
                <a:spcPts val="146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K-Nearest Neighbors</a:t>
            </a:r>
          </a:p>
          <a:p>
            <a:pPr marL="171450" indent="-171450">
              <a:lnSpc>
                <a:spcPts val="146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XGBoost</a:t>
            </a:r>
          </a:p>
          <a:p>
            <a:pPr marL="171450" indent="-171450">
              <a:lnSpc>
                <a:spcPts val="146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LightGBM</a:t>
            </a:r>
          </a:p>
          <a:p>
            <a:pPr marL="171450" indent="-171450">
              <a:lnSpc>
                <a:spcPts val="146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AdaBoost</a:t>
            </a:r>
          </a:p>
          <a:p>
            <a:pPr marL="171450" indent="-171450">
              <a:lnSpc>
                <a:spcPts val="1469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Extra Trees</a:t>
            </a:r>
            <a:endParaRPr lang="en-US" sz="1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32EEB03-BB56-4603-80A4-26EE1698F099}"/>
              </a:ext>
            </a:extLst>
          </p:cNvPr>
          <p:cNvSpPr/>
          <p:nvPr/>
        </p:nvSpPr>
        <p:spPr>
          <a:xfrm>
            <a:off x="257598" y="4047923"/>
            <a:ext cx="2664296" cy="21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ru-RU" sz="1400" b="1" dirty="0">
                <a:solidFill>
                  <a:srgbClr val="3C3939"/>
                </a:solidFill>
                <a:latin typeface="Raleway" pitchFamily="34" charset="0"/>
              </a:rPr>
              <a:t>Принцип работы</a:t>
            </a:r>
            <a:r>
              <a:rPr lang="en-US" sz="1400" b="1" dirty="0">
                <a:solidFill>
                  <a:srgbClr val="3C3939"/>
                </a:solidFill>
                <a:latin typeface="Raleway" pitchFamily="34" charset="0"/>
              </a:rPr>
              <a:t>:</a:t>
            </a:r>
            <a:endParaRPr 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4AB5ADBE-EF37-4ADB-BDBD-FEFF37DE2D24}"/>
                  </a:ext>
                </a:extLst>
              </p:cNvPr>
              <p:cNvSpPr/>
              <p:nvPr/>
            </p:nvSpPr>
            <p:spPr>
              <a:xfrm>
                <a:off x="251520" y="4290317"/>
                <a:ext cx="6408712" cy="4538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171450" indent="-171450">
                  <a:lnSpc>
                    <a:spcPts val="1469"/>
                  </a:lnSpc>
                  <a:buFont typeface="Arial" panose="020B0604020202020204" pitchFamily="34" charset="0"/>
                  <a:buChar char="•"/>
                </a:pPr>
                <a:r>
                  <a:rPr lang="ru-RU" sz="1200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</a:rPr>
                  <a:t>Высокая уверенность нейронной сети </a:t>
                </a:r>
                <a14:m>
                  <m:oMath xmlns:m="http://schemas.openxmlformats.org/officeDocument/2006/math">
                    <m:r>
                      <a:rPr lang="ru-RU" sz="1200" i="1" smtClean="0">
                        <a:solidFill>
                          <a:srgbClr val="3C393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ru-RU" sz="1200" b="0" i="0" smtClean="0">
                        <a:solidFill>
                          <a:srgbClr val="3C393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200" dirty="0"/>
                  <a:t> </a:t>
                </a:r>
                <a:r>
                  <a:rPr lang="ru-RU" sz="1200" dirty="0">
                    <a:latin typeface="Roboto" panose="02000000000000000000" pitchFamily="2" charset="0"/>
                    <a:ea typeface="Roboto" panose="02000000000000000000" pitchFamily="2" charset="0"/>
                  </a:rPr>
                  <a:t>используем её</a:t>
                </a:r>
                <a:r>
                  <a:rPr lang="en-US" sz="1200" dirty="0">
                    <a:latin typeface="Roboto" panose="02000000000000000000" pitchFamily="2" charset="0"/>
                    <a:ea typeface="Roboto" panose="02000000000000000000" pitchFamily="2" charset="0"/>
                  </a:rPr>
                  <a:t> </a:t>
                </a:r>
                <a:r>
                  <a:rPr lang="ru-RU" sz="1200" dirty="0">
                    <a:latin typeface="Roboto" panose="02000000000000000000" pitchFamily="2" charset="0"/>
                    <a:ea typeface="Roboto" panose="02000000000000000000" pitchFamily="2" charset="0"/>
                  </a:rPr>
                  <a:t>результаты классификации</a:t>
                </a:r>
                <a:r>
                  <a:rPr lang="en-US" sz="1200" dirty="0">
                    <a:latin typeface="Roboto" panose="02000000000000000000" pitchFamily="2" charset="0"/>
                    <a:ea typeface="Roboto" panose="02000000000000000000" pitchFamily="2" charset="0"/>
                  </a:rPr>
                  <a:t>;</a:t>
                </a:r>
                <a:endParaRPr lang="ru-RU" sz="12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marL="171450" indent="-171450">
                  <a:lnSpc>
                    <a:spcPts val="1469"/>
                  </a:lnSpc>
                  <a:buFont typeface="Arial" panose="020B0604020202020204" pitchFamily="34" charset="0"/>
                  <a:buChar char="•"/>
                </a:pPr>
                <a:r>
                  <a:rPr lang="ru-RU" sz="1200" dirty="0">
                    <a:latin typeface="Roboto" panose="02000000000000000000" pitchFamily="2" charset="0"/>
                    <a:ea typeface="Roboto" panose="02000000000000000000" pitchFamily="2" charset="0"/>
                  </a:rPr>
                  <a:t>Низкая уверенность нейронной сети </a:t>
                </a:r>
                <a14:m>
                  <m:oMath xmlns:m="http://schemas.openxmlformats.org/officeDocument/2006/math">
                    <m:r>
                      <a:rPr lang="ru-RU" sz="1200" i="1" smtClean="0">
                        <a:solidFill>
                          <a:srgbClr val="3C393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ru-RU" sz="1200" b="0" i="0" smtClean="0">
                        <a:solidFill>
                          <a:srgbClr val="3C393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200" dirty="0">
                    <a:latin typeface="Roboto" panose="02000000000000000000" pitchFamily="2" charset="0"/>
                    <a:ea typeface="Roboto" panose="02000000000000000000" pitchFamily="2" charset="0"/>
                  </a:rPr>
                  <a:t>подключаются вспомогательные алгоритмы</a:t>
                </a:r>
                <a:r>
                  <a:rPr lang="en-US" sz="1200" dirty="0">
                    <a:latin typeface="Roboto" panose="02000000000000000000" pitchFamily="2" charset="0"/>
                    <a:ea typeface="Roboto" panose="02000000000000000000" pitchFamily="2" charset="0"/>
                  </a:rPr>
                  <a:t>.</a:t>
                </a:r>
                <a:endParaRPr lang="ru-RU" sz="12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marL="171450" indent="-171450">
                  <a:lnSpc>
                    <a:spcPts val="1469"/>
                  </a:lnSpc>
                  <a:buFont typeface="Arial" panose="020B0604020202020204" pitchFamily="34" charset="0"/>
                  <a:buChar char="•"/>
                </a:pPr>
                <a:endParaRPr lang="en-US" sz="1200" dirty="0"/>
              </a:p>
            </p:txBody>
          </p:sp>
        </mc:Choice>
        <mc:Fallback xmlns=""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4AB5ADBE-EF37-4ADB-BDBD-FEFF37DE2D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290317"/>
                <a:ext cx="6408712" cy="453835"/>
              </a:xfrm>
              <a:prstGeom prst="rect">
                <a:avLst/>
              </a:prstGeom>
              <a:blipFill>
                <a:blip r:embed="rId2"/>
                <a:stretch>
                  <a:fillRect l="-1331" t="-12162" b="-2703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7917EB7-B7AD-404B-AC71-0A403F6921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885" y="959452"/>
            <a:ext cx="5150618" cy="3021037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281E6B1C-903E-4284-B075-92214D1E85CF}"/>
              </a:ext>
            </a:extLst>
          </p:cNvPr>
          <p:cNvSpPr/>
          <p:nvPr/>
        </p:nvSpPr>
        <p:spPr>
          <a:xfrm>
            <a:off x="52475" y="4916582"/>
            <a:ext cx="5150618" cy="453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94" i="1" dirty="0">
                <a:latin typeface="Roboto" panose="02000000000000000000" pitchFamily="2" charset="0"/>
                <a:ea typeface="Roboto" panose="02000000000000000000" pitchFamily="2" charset="0"/>
              </a:rPr>
              <a:t>*</a:t>
            </a:r>
            <a:r>
              <a:rPr lang="ru-RU" sz="1094" i="1" dirty="0">
                <a:latin typeface="Roboto" panose="02000000000000000000" pitchFamily="2" charset="0"/>
                <a:ea typeface="Roboto" panose="02000000000000000000" pitchFamily="2" charset="0"/>
              </a:rPr>
              <a:t>Снижение веса нейронной сети происходит только если оно больше порога</a:t>
            </a:r>
            <a:endParaRPr lang="en-US" sz="1094" i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061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предобработки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711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программного комплекса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10</a:t>
            </a:fld>
            <a:endParaRPr lang="ru-RU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88721C5-A22D-424A-BA77-90C99D272A2F}"/>
              </a:ext>
            </a:extLst>
          </p:cNvPr>
          <p:cNvSpPr/>
          <p:nvPr/>
        </p:nvSpPr>
        <p:spPr>
          <a:xfrm>
            <a:off x="107504" y="1499759"/>
            <a:ext cx="1528391" cy="195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1219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3.10</a:t>
            </a:r>
            <a:endParaRPr lang="en-US" sz="1219" b="1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115D92A-EDBB-4072-AA55-3E0378A6F67A}"/>
              </a:ext>
            </a:extLst>
          </p:cNvPr>
          <p:cNvSpPr/>
          <p:nvPr/>
        </p:nvSpPr>
        <p:spPr>
          <a:xfrm>
            <a:off x="107504" y="1770329"/>
            <a:ext cx="1528391" cy="200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969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Язык программирования.</a:t>
            </a:r>
            <a:endParaRPr lang="en-US" sz="969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0DC319E-B45A-41F2-BDA7-AB5B16942C38}"/>
              </a:ext>
            </a:extLst>
          </p:cNvPr>
          <p:cNvSpPr/>
          <p:nvPr/>
        </p:nvSpPr>
        <p:spPr>
          <a:xfrm>
            <a:off x="107504" y="2171391"/>
            <a:ext cx="1311697" cy="195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1219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TensorFlow 2.X</a:t>
            </a:r>
            <a:endParaRPr lang="en-US" sz="1219" b="1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58459C1-12DA-493A-B6C9-08738688B266}"/>
              </a:ext>
            </a:extLst>
          </p:cNvPr>
          <p:cNvSpPr/>
          <p:nvPr/>
        </p:nvSpPr>
        <p:spPr>
          <a:xfrm>
            <a:off x="107504" y="2441960"/>
            <a:ext cx="1311697" cy="200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969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нейронных сетей.</a:t>
            </a:r>
            <a:endParaRPr lang="en-US" sz="969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9742572-7F8B-4D45-929C-C2FAA4826D53}"/>
              </a:ext>
            </a:extLst>
          </p:cNvPr>
          <p:cNvSpPr/>
          <p:nvPr/>
        </p:nvSpPr>
        <p:spPr>
          <a:xfrm>
            <a:off x="107504" y="2794776"/>
            <a:ext cx="1564407" cy="195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1219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Scikit-learn</a:t>
            </a:r>
            <a:endParaRPr lang="en-US" sz="1219" b="1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E223F2C-E087-4F8A-B6F6-D46DA135A6CC}"/>
              </a:ext>
            </a:extLst>
          </p:cNvPr>
          <p:cNvSpPr/>
          <p:nvPr/>
        </p:nvSpPr>
        <p:spPr>
          <a:xfrm>
            <a:off x="107504" y="3065347"/>
            <a:ext cx="1757065" cy="200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969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Классические ML алгоритмы.</a:t>
            </a:r>
            <a:endParaRPr lang="en-US" sz="969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2C0FC3D-6255-4CBA-B298-DC1F56073CEA}"/>
              </a:ext>
            </a:extLst>
          </p:cNvPr>
          <p:cNvSpPr/>
          <p:nvPr/>
        </p:nvSpPr>
        <p:spPr>
          <a:xfrm>
            <a:off x="107504" y="3469711"/>
            <a:ext cx="1465139" cy="195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1219" b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Tkinter</a:t>
            </a:r>
            <a:endParaRPr lang="en-US" sz="1219" b="1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68049E5-28A6-4043-84F8-05AFE7DD1DA9}"/>
              </a:ext>
            </a:extLst>
          </p:cNvPr>
          <p:cNvSpPr/>
          <p:nvPr/>
        </p:nvSpPr>
        <p:spPr>
          <a:xfrm>
            <a:off x="107504" y="3740281"/>
            <a:ext cx="1465139" cy="200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969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Графический интерфейс.</a:t>
            </a:r>
            <a:endParaRPr lang="en-US" sz="969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87300AA-0B07-4C1C-8C16-F905A90C9A7C}"/>
              </a:ext>
            </a:extLst>
          </p:cNvPr>
          <p:cNvSpPr/>
          <p:nvPr/>
        </p:nvSpPr>
        <p:spPr>
          <a:xfrm>
            <a:off x="107504" y="4373259"/>
            <a:ext cx="8267998" cy="600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969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Программный комплекс реализован на Python 3.10. Он использует мощные библиотеки, такие как TensorFlow и Scikit-learn. Графический интерфейс пользователя (GUI) на базе Tkinter предоставляет интуитивно понятное взаимодействие. В нем реализована визуализация результатов в реальном времени, а также сохранение и загрузка моделей.</a:t>
            </a:r>
            <a:endParaRPr lang="en-US" sz="969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8B2DB06-3FE7-49EF-B4CB-FD403DAC2C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185" y="1332395"/>
            <a:ext cx="1408148" cy="638182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AD3E50C-FC31-445C-9859-FF4B527A61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489" y="2017636"/>
            <a:ext cx="1071540" cy="68484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79A72D1-6831-4B79-BC06-D118D1010C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746" y="2762882"/>
            <a:ext cx="1197026" cy="52864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B2544C3-CBF3-4E1B-AAAC-622ECB655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3382" y="3445899"/>
            <a:ext cx="713753" cy="588764"/>
          </a:xfrm>
          <a:prstGeom prst="rect">
            <a:avLst/>
          </a:prstGeom>
        </p:spPr>
      </p:pic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D4936AB-9707-42ED-BDD2-475C63DE4B64}"/>
              </a:ext>
            </a:extLst>
          </p:cNvPr>
          <p:cNvCxnSpPr/>
          <p:nvPr/>
        </p:nvCxnSpPr>
        <p:spPr>
          <a:xfrm>
            <a:off x="107504" y="2027098"/>
            <a:ext cx="28803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696BDCFB-F0AA-4555-894E-A93E2922B2BD}"/>
              </a:ext>
            </a:extLst>
          </p:cNvPr>
          <p:cNvCxnSpPr/>
          <p:nvPr/>
        </p:nvCxnSpPr>
        <p:spPr>
          <a:xfrm>
            <a:off x="107504" y="2701159"/>
            <a:ext cx="28803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2EA0B222-D410-4283-94E4-B0F6EAFD3EDA}"/>
              </a:ext>
            </a:extLst>
          </p:cNvPr>
          <p:cNvCxnSpPr>
            <a:cxnSpLocks/>
          </p:cNvCxnSpPr>
          <p:nvPr/>
        </p:nvCxnSpPr>
        <p:spPr>
          <a:xfrm>
            <a:off x="107504" y="3397526"/>
            <a:ext cx="28803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0DDEF920-93C9-46EF-B5F2-FD038213383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326" y="1331296"/>
            <a:ext cx="2909782" cy="2779066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E6E9CB3-F2EF-49C4-BEE5-885B6F1D61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714" y="1325322"/>
            <a:ext cx="2909782" cy="276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7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Графический интерфейс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11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FE930D-671B-492C-94C9-7DD5C2E0E0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59582"/>
            <a:ext cx="3754760" cy="187220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4FB87A8-6109-42CA-B407-7207E9AB69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16464"/>
            <a:ext cx="3782291" cy="192405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EBE3A2C-7BED-42E5-8E50-D39AA03EB4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231" y="1070977"/>
            <a:ext cx="3754760" cy="187220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2AB0BAE-006A-4A84-A40F-8698CE7E3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231" y="3016464"/>
            <a:ext cx="3754758" cy="96706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1FC472-24D3-4517-9E3E-55EBB9356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1230" y="4073580"/>
            <a:ext cx="3754759" cy="86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85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Методика экспериментальных исследований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12</a:t>
            </a:fld>
            <a:endParaRPr lang="ru-RU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A976733-0A9C-4F89-A4EC-8601B073D213}"/>
              </a:ext>
            </a:extLst>
          </p:cNvPr>
          <p:cNvSpPr/>
          <p:nvPr/>
        </p:nvSpPr>
        <p:spPr>
          <a:xfrm>
            <a:off x="323528" y="1419622"/>
            <a:ext cx="1539924" cy="38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69"/>
              </a:lnSpc>
            </a:pPr>
            <a:r>
              <a:rPr lang="en-US" sz="2969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2969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DDA2C66-72A4-44CC-AC3A-FAC52884F78D}"/>
              </a:ext>
            </a:extLst>
          </p:cNvPr>
          <p:cNvSpPr/>
          <p:nvPr/>
        </p:nvSpPr>
        <p:spPr>
          <a:xfrm>
            <a:off x="323528" y="1944167"/>
            <a:ext cx="1539924" cy="360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6"/>
              </a:lnSpc>
            </a:pPr>
            <a:r>
              <a:rPr lang="en-US" sz="112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Встроенных датасетов</a:t>
            </a:r>
            <a:endParaRPr lang="en-US" sz="1125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A4832A7-E637-4194-BD68-AD23BFFB8020}"/>
              </a:ext>
            </a:extLst>
          </p:cNvPr>
          <p:cNvSpPr/>
          <p:nvPr/>
        </p:nvSpPr>
        <p:spPr>
          <a:xfrm>
            <a:off x="323528" y="2373610"/>
            <a:ext cx="1539924" cy="36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38"/>
              </a:lnSpc>
            </a:pP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Iris, Wine, Breast Cancer</a:t>
            </a:r>
          </a:p>
          <a:p>
            <a:pPr algn="ctr">
              <a:lnSpc>
                <a:spcPts val="1438"/>
              </a:lnSpc>
            </a:pPr>
            <a:r>
              <a:rPr lang="ru-RU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 т.д.</a:t>
            </a: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06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7DF39BF-9EDC-417F-BE08-F973277F92C5}"/>
              </a:ext>
            </a:extLst>
          </p:cNvPr>
          <p:cNvSpPr/>
          <p:nvPr/>
        </p:nvSpPr>
        <p:spPr>
          <a:xfrm>
            <a:off x="2007518" y="1419622"/>
            <a:ext cx="1539924" cy="38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69"/>
              </a:lnSpc>
            </a:pPr>
            <a:r>
              <a:rPr lang="en-US" sz="2969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60%</a:t>
            </a:r>
            <a:endParaRPr lang="en-US" sz="2969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D73F3E4-B537-4915-A676-8465EBD51A9D}"/>
              </a:ext>
            </a:extLst>
          </p:cNvPr>
          <p:cNvSpPr/>
          <p:nvPr/>
        </p:nvSpPr>
        <p:spPr>
          <a:xfrm>
            <a:off x="2056855" y="1944167"/>
            <a:ext cx="1441252" cy="180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06"/>
              </a:lnSpc>
            </a:pPr>
            <a:r>
              <a:rPr lang="en-US" sz="112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Обучение</a:t>
            </a:r>
            <a:endParaRPr lang="en-US" sz="1125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D7AFCC6-836A-4FCD-B1DF-5F73365762AF}"/>
              </a:ext>
            </a:extLst>
          </p:cNvPr>
          <p:cNvSpPr/>
          <p:nvPr/>
        </p:nvSpPr>
        <p:spPr>
          <a:xfrm>
            <a:off x="2007518" y="2193454"/>
            <a:ext cx="1539924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38"/>
              </a:lnSpc>
            </a:pP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60% данных для обучения.</a:t>
            </a:r>
            <a:endParaRPr lang="en-US" sz="906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00B4152-CC91-4E9E-9F52-A9CEF1849799}"/>
              </a:ext>
            </a:extLst>
          </p:cNvPr>
          <p:cNvSpPr/>
          <p:nvPr/>
        </p:nvSpPr>
        <p:spPr>
          <a:xfrm>
            <a:off x="3691509" y="1419622"/>
            <a:ext cx="1539924" cy="38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69"/>
              </a:lnSpc>
            </a:pPr>
            <a:r>
              <a:rPr lang="en-US" sz="2969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30%</a:t>
            </a:r>
            <a:endParaRPr lang="en-US" sz="2969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670E631-94C9-4E4B-B0CC-A349E69F857C}"/>
              </a:ext>
            </a:extLst>
          </p:cNvPr>
          <p:cNvSpPr/>
          <p:nvPr/>
        </p:nvSpPr>
        <p:spPr>
          <a:xfrm>
            <a:off x="3740845" y="1944167"/>
            <a:ext cx="1441252" cy="180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06"/>
              </a:lnSpc>
            </a:pPr>
            <a:r>
              <a:rPr lang="en-US" sz="112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Уровень шума</a:t>
            </a:r>
            <a:endParaRPr lang="en-US" sz="1125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5DBD52F-03A0-4EC1-A01A-4C669E32B1A8}"/>
              </a:ext>
            </a:extLst>
          </p:cNvPr>
          <p:cNvSpPr/>
          <p:nvPr/>
        </p:nvSpPr>
        <p:spPr>
          <a:xfrm>
            <a:off x="3691509" y="2193454"/>
            <a:ext cx="1539924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38"/>
              </a:lnSpc>
            </a:pP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 0% до 30% с шагом 5%.</a:t>
            </a:r>
            <a:endParaRPr lang="en-US" sz="906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BBC5722-21DC-4D6F-9FDA-B720F4ECE9B4}"/>
              </a:ext>
            </a:extLst>
          </p:cNvPr>
          <p:cNvSpPr/>
          <p:nvPr/>
        </p:nvSpPr>
        <p:spPr>
          <a:xfrm>
            <a:off x="2007518" y="2903811"/>
            <a:ext cx="1539924" cy="38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69"/>
              </a:lnSpc>
            </a:pPr>
            <a:r>
              <a:rPr lang="en-US" sz="2969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969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E8B63D4-F46D-4076-91D1-5F783A980D16}"/>
              </a:ext>
            </a:extLst>
          </p:cNvPr>
          <p:cNvSpPr/>
          <p:nvPr/>
        </p:nvSpPr>
        <p:spPr>
          <a:xfrm>
            <a:off x="2056855" y="3428355"/>
            <a:ext cx="1441252" cy="180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406"/>
              </a:lnSpc>
            </a:pPr>
            <a:r>
              <a:rPr lang="en-US" sz="1125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Повторений</a:t>
            </a:r>
            <a:endParaRPr lang="en-US" sz="1125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69FBA66-BDDF-48F8-B8CC-EDF0292FFF28}"/>
              </a:ext>
            </a:extLst>
          </p:cNvPr>
          <p:cNvSpPr/>
          <p:nvPr/>
        </p:nvSpPr>
        <p:spPr>
          <a:xfrm>
            <a:off x="2007518" y="3677643"/>
            <a:ext cx="1539924" cy="368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38"/>
              </a:lnSpc>
            </a:pP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статистической значимости.</a:t>
            </a:r>
            <a:endParaRPr lang="en-US" sz="906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AFADF92-DCB2-4FEB-8E4A-255CB5FF7607}"/>
              </a:ext>
            </a:extLst>
          </p:cNvPr>
          <p:cNvSpPr/>
          <p:nvPr/>
        </p:nvSpPr>
        <p:spPr>
          <a:xfrm>
            <a:off x="323528" y="4259487"/>
            <a:ext cx="4907905" cy="5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906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Эксперименты проводились на 18 встроенных и пользовательских наборах данных. Разделение данных: 60% обучение, 15% валидация, 25% тест. Шум применялся только к тестовой выборке. Модели обучались на чистых данных для оценки устойчивости. </a:t>
            </a:r>
            <a:endParaRPr lang="en-US" sz="906" dirty="0"/>
          </a:p>
        </p:txBody>
      </p:sp>
      <p:pic>
        <p:nvPicPr>
          <p:cNvPr id="17" name="Image 0">
            <a:extLst>
              <a:ext uri="{FF2B5EF4-FFF2-40B4-BE49-F238E27FC236}">
                <a16:creationId xmlns:a16="http://schemas.microsoft.com/office/drawing/2014/main" id="{EBF40071-3DF5-46FD-8EAA-EA7844A08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171" y="1097762"/>
            <a:ext cx="3346301" cy="3706235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2447324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</a:t>
            </a:r>
            <a:r>
              <a:rPr lang="en-US" dirty="0"/>
              <a:t> (</a:t>
            </a:r>
            <a:r>
              <a:rPr lang="ru-RU" dirty="0"/>
              <a:t>импульсный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13</a:t>
            </a:fld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907B9E2-22DF-44F0-A985-4995BDD9F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56624"/>
              </p:ext>
            </p:extLst>
          </p:nvPr>
        </p:nvGraphicFramePr>
        <p:xfrm>
          <a:off x="287524" y="1330264"/>
          <a:ext cx="8568952" cy="29459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33721389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0964519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43840056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49301825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19554304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13844557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58909502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38795608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3862609537"/>
                    </a:ext>
                  </a:extLst>
                </a:gridCol>
              </a:tblGrid>
              <a:tr h="10960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Уровень шума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Ансамблевая модель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Нейронная сеть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A23E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Random Forest</a:t>
                      </a:r>
                      <a:r>
                        <a:rPr lang="en-US" sz="1200">
                          <a:effectLst/>
                        </a:rPr>
                        <a:t>,</a:t>
                      </a:r>
                      <a:r>
                        <a:rPr lang="ru-RU" sz="1200">
                          <a:effectLst/>
                        </a:rPr>
                        <a:t> %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Gradient Boosting</a:t>
                      </a:r>
                      <a:r>
                        <a:rPr lang="en-US" sz="1200">
                          <a:effectLst/>
                        </a:rPr>
                        <a:t>,</a:t>
                      </a:r>
                      <a:r>
                        <a:rPr lang="ru-RU" sz="1200">
                          <a:effectLst/>
                        </a:rPr>
                        <a:t> %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SVM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K-NN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XGBoost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LightGBM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1408113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100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0C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97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0C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100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6833094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96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0410418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10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93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67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65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70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2141665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93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63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67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8071928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88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9080441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89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48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86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47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48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84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7927131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30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85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43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42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43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82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80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720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282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</a:t>
            </a:r>
            <a:r>
              <a:rPr lang="en-US" dirty="0"/>
              <a:t> (</a:t>
            </a:r>
            <a:r>
              <a:rPr lang="ru-RU" dirty="0"/>
              <a:t>гауссовский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14</a:t>
            </a:fld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907B9E2-22DF-44F0-A985-4995BDD9F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125127"/>
              </p:ext>
            </p:extLst>
          </p:nvPr>
        </p:nvGraphicFramePr>
        <p:xfrm>
          <a:off x="287524" y="1330264"/>
          <a:ext cx="8568952" cy="29459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33721389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0964519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43840056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49301825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19554304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13844557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58909502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38795608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3862609537"/>
                    </a:ext>
                  </a:extLst>
                </a:gridCol>
              </a:tblGrid>
              <a:tr h="10960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Уровень шума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Ансамблевая модель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Нейронная сеть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A23E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Random Forest</a:t>
                      </a:r>
                      <a:r>
                        <a:rPr lang="en-US" sz="1200">
                          <a:effectLst/>
                        </a:rPr>
                        <a:t>,</a:t>
                      </a:r>
                      <a:r>
                        <a:rPr lang="ru-RU" sz="1200">
                          <a:effectLst/>
                        </a:rPr>
                        <a:t> %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Gradient Boosting</a:t>
                      </a:r>
                      <a:r>
                        <a:rPr lang="en-US" sz="1200">
                          <a:effectLst/>
                        </a:rPr>
                        <a:t>,</a:t>
                      </a:r>
                      <a:r>
                        <a:rPr lang="ru-RU" sz="1200">
                          <a:effectLst/>
                        </a:rPr>
                        <a:t> %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SVM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K-NN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XGBoost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LightGBM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1408113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97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0C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96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91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E0C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97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6833094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97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91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0E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94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97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94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410418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10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96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94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94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94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2141665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96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91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94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8071928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96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91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94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91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96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94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9080441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95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95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93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7927131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30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</a:rPr>
                        <a:t>95</a:t>
                      </a:r>
                      <a:endParaRPr lang="ru-RU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91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92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720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724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экспериментов</a:t>
            </a:r>
            <a:r>
              <a:rPr lang="en-US" dirty="0"/>
              <a:t> (</a:t>
            </a:r>
            <a:r>
              <a:rPr lang="ru-RU" dirty="0"/>
              <a:t>пропущ. знач.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15</a:t>
            </a:fld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907B9E2-22DF-44F0-A985-4995BDD9F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595914"/>
              </p:ext>
            </p:extLst>
          </p:nvPr>
        </p:nvGraphicFramePr>
        <p:xfrm>
          <a:off x="287524" y="1330264"/>
          <a:ext cx="8568952" cy="29459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33721389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0964519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43840056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49301825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19554304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13844557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58909502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38795608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3862609537"/>
                    </a:ext>
                  </a:extLst>
                </a:gridCol>
              </a:tblGrid>
              <a:tr h="10960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Уровень шума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Ансамблевая модель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Нейронная сеть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A23E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Random Forest</a:t>
                      </a:r>
                      <a:r>
                        <a:rPr lang="en-US" sz="1200">
                          <a:effectLst/>
                        </a:rPr>
                        <a:t>,</a:t>
                      </a:r>
                      <a:r>
                        <a:rPr lang="ru-RU" sz="1200">
                          <a:effectLst/>
                        </a:rPr>
                        <a:t> %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Gradient Boosting</a:t>
                      </a:r>
                      <a:r>
                        <a:rPr lang="en-US" sz="1200">
                          <a:effectLst/>
                        </a:rPr>
                        <a:t>,</a:t>
                      </a:r>
                      <a:r>
                        <a:rPr lang="ru-RU" sz="1200">
                          <a:effectLst/>
                        </a:rPr>
                        <a:t> %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SVM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K-NN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XGBoost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LightGBM</a:t>
                      </a:r>
                      <a:r>
                        <a:rPr lang="en-US" sz="1200" dirty="0">
                          <a:effectLst/>
                        </a:rPr>
                        <a:t>,</a:t>
                      </a:r>
                      <a:r>
                        <a:rPr lang="ru-RU" sz="1200" dirty="0">
                          <a:effectLst/>
                        </a:rPr>
                        <a:t> %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1408113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0C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78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0C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84 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0C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81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81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6833094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 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81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85 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0E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82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81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81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0410418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10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85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84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79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79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84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2141665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15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83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83 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79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82 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81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79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8071928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81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79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76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81 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76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76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9080441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25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82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74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 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0E8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7927131"/>
                  </a:ext>
                </a:extLst>
              </a:tr>
              <a:tr h="2642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30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79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78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74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79 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77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 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720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016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Эффективность разработанного ансамбля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16</a:t>
            </a:fld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24E2FC0-8101-48D5-A490-945E2A3F5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745570"/>
              </p:ext>
            </p:extLst>
          </p:nvPr>
        </p:nvGraphicFramePr>
        <p:xfrm>
          <a:off x="1129939" y="1347614"/>
          <a:ext cx="6884121" cy="31683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6985">
                  <a:extLst>
                    <a:ext uri="{9D8B030D-6E8A-4147-A177-3AD203B41FA5}">
                      <a16:colId xmlns:a16="http://schemas.microsoft.com/office/drawing/2014/main" val="2089719886"/>
                    </a:ext>
                  </a:extLst>
                </a:gridCol>
                <a:gridCol w="1622133">
                  <a:extLst>
                    <a:ext uri="{9D8B030D-6E8A-4147-A177-3AD203B41FA5}">
                      <a16:colId xmlns:a16="http://schemas.microsoft.com/office/drawing/2014/main" val="2284540762"/>
                    </a:ext>
                  </a:extLst>
                </a:gridCol>
                <a:gridCol w="1622133">
                  <a:extLst>
                    <a:ext uri="{9D8B030D-6E8A-4147-A177-3AD203B41FA5}">
                      <a16:colId xmlns:a16="http://schemas.microsoft.com/office/drawing/2014/main" val="2498650972"/>
                    </a:ext>
                  </a:extLst>
                </a:gridCol>
                <a:gridCol w="1622870">
                  <a:extLst>
                    <a:ext uri="{9D8B030D-6E8A-4147-A177-3AD203B41FA5}">
                      <a16:colId xmlns:a16="http://schemas.microsoft.com/office/drawing/2014/main" val="3367964476"/>
                    </a:ext>
                  </a:extLst>
                </a:gridCol>
              </a:tblGrid>
              <a:tr h="6663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Тип шума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Уровень шума 5%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Уровень шума 15%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Уровень шума 30%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9722098"/>
                  </a:ext>
                </a:extLst>
              </a:tr>
              <a:tr h="3671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Гауссовский</a:t>
                      </a:r>
                      <a:endParaRPr lang="ru-RU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8,</a:t>
                      </a:r>
                      <a:r>
                        <a:rPr lang="en-US" sz="1400" dirty="0">
                          <a:effectLst/>
                        </a:rPr>
                        <a:t>1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6,7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6,8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45230386"/>
                  </a:ext>
                </a:extLst>
              </a:tr>
              <a:tr h="3671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Импульсный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9,0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17,2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21,7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5427126"/>
                  </a:ext>
                </a:extLst>
              </a:tr>
              <a:tr h="6663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Пропущенные значения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3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9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,</a:t>
                      </a:r>
                      <a:r>
                        <a:rPr lang="ru-RU" sz="1400" dirty="0">
                          <a:effectLst/>
                        </a:rPr>
                        <a:t>6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50814424"/>
                  </a:ext>
                </a:extLst>
              </a:tr>
              <a:tr h="3671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Равномерный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</a:rPr>
                        <a:t>3,7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2,3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2,9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3166993"/>
                  </a:ext>
                </a:extLst>
              </a:tr>
              <a:tr h="3671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Мультипликативный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9,3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13,6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16,5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7323386"/>
                  </a:ext>
                </a:extLst>
              </a:tr>
              <a:tr h="3671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Соль и перец</a:t>
                      </a:r>
                      <a:endParaRPr lang="ru-RU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3,3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3,8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3,9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6729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8976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8B80605-F43B-4C5F-B318-35B92B6C8CCE}"/>
              </a:ext>
            </a:extLst>
          </p:cNvPr>
          <p:cNvSpPr/>
          <p:nvPr/>
        </p:nvSpPr>
        <p:spPr>
          <a:xfrm>
            <a:off x="7603937" y="1487943"/>
            <a:ext cx="582303" cy="578456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0BD55A6-DF87-43B1-90C2-8A2BC78CDE42}"/>
              </a:ext>
            </a:extLst>
          </p:cNvPr>
          <p:cNvSpPr/>
          <p:nvPr/>
        </p:nvSpPr>
        <p:spPr>
          <a:xfrm>
            <a:off x="5330000" y="1487943"/>
            <a:ext cx="582303" cy="578456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4DF205A-4F5B-4B43-AC26-77CD821217EC}"/>
              </a:ext>
            </a:extLst>
          </p:cNvPr>
          <p:cNvSpPr/>
          <p:nvPr/>
        </p:nvSpPr>
        <p:spPr>
          <a:xfrm>
            <a:off x="3057916" y="1491630"/>
            <a:ext cx="582303" cy="578456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CA1E0BB-59A5-4AA6-BB4E-1AAED0C44010}"/>
              </a:ext>
            </a:extLst>
          </p:cNvPr>
          <p:cNvSpPr/>
          <p:nvPr/>
        </p:nvSpPr>
        <p:spPr>
          <a:xfrm>
            <a:off x="793546" y="1493396"/>
            <a:ext cx="582303" cy="578456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значимость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17</a:t>
            </a:fld>
            <a:endParaRPr lang="ru-RU" dirty="0"/>
          </a:p>
        </p:txBody>
      </p:sp>
      <p:pic>
        <p:nvPicPr>
          <p:cNvPr id="7" name="Рисунок 6" descr="Микроскоп со сплошной заливкой">
            <a:extLst>
              <a:ext uri="{FF2B5EF4-FFF2-40B4-BE49-F238E27FC236}">
                <a16:creationId xmlns:a16="http://schemas.microsoft.com/office/drawing/2014/main" id="{4041BC04-A56D-4564-8DD9-10556F0CE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9832" y="1491630"/>
            <a:ext cx="582303" cy="578455"/>
          </a:xfrm>
          <a:prstGeom prst="rect">
            <a:avLst/>
          </a:prstGeom>
        </p:spPr>
      </p:pic>
      <p:pic>
        <p:nvPicPr>
          <p:cNvPr id="9" name="Рисунок 8" descr="Тенденция к повышению со сплошной заливкой">
            <a:extLst>
              <a:ext uri="{FF2B5EF4-FFF2-40B4-BE49-F238E27FC236}">
                <a16:creationId xmlns:a16="http://schemas.microsoft.com/office/drawing/2014/main" id="{035CE440-6B71-471E-A23B-F8527E9F2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294" y="1487943"/>
            <a:ext cx="582303" cy="582303"/>
          </a:xfrm>
          <a:prstGeom prst="rect">
            <a:avLst/>
          </a:prstGeom>
        </p:spPr>
      </p:pic>
      <p:pic>
        <p:nvPicPr>
          <p:cNvPr id="11" name="Рисунок 10" descr="Пользователи со сплошной заливкой">
            <a:extLst>
              <a:ext uri="{FF2B5EF4-FFF2-40B4-BE49-F238E27FC236}">
                <a16:creationId xmlns:a16="http://schemas.microsoft.com/office/drawing/2014/main" id="{EBF0360D-1FA9-40AC-88D6-31034C6FAB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28084" y="1493017"/>
            <a:ext cx="582303" cy="573382"/>
          </a:xfrm>
          <a:prstGeom prst="rect">
            <a:avLst/>
          </a:prstGeom>
        </p:spPr>
      </p:pic>
      <p:pic>
        <p:nvPicPr>
          <p:cNvPr id="13" name="Рисунок 12" descr="Компьютер со сплошной заливкой">
            <a:extLst>
              <a:ext uri="{FF2B5EF4-FFF2-40B4-BE49-F238E27FC236}">
                <a16:creationId xmlns:a16="http://schemas.microsoft.com/office/drawing/2014/main" id="{9134201F-4177-4785-8B4C-971DE9BDD0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00413" y="1484096"/>
            <a:ext cx="582303" cy="58230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9DB5E1F-E70E-4E0B-BE13-B20FE018D980}"/>
              </a:ext>
            </a:extLst>
          </p:cNvPr>
          <p:cNvSpPr txBox="1"/>
          <p:nvPr/>
        </p:nvSpPr>
        <p:spPr>
          <a:xfrm>
            <a:off x="220102" y="2353266"/>
            <a:ext cx="18527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latin typeface="Raleway" pitchFamily="2" charset="-52"/>
                <a:ea typeface="Roboto" panose="02000000000000000000" pitchFamily="2" charset="0"/>
              </a:rPr>
              <a:t>Повышение точности в критически важных областях</a:t>
            </a:r>
            <a:endParaRPr lang="en-US" sz="1400" b="1" dirty="0">
              <a:latin typeface="Raleway" pitchFamily="2" charset="-52"/>
              <a:ea typeface="Roboto" panose="02000000000000000000" pitchFamily="2" charset="0"/>
            </a:endParaRPr>
          </a:p>
          <a:p>
            <a:endParaRPr lang="en-US" sz="12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ru-RU" sz="1200" dirty="0">
                <a:latin typeface="Roboto" panose="02000000000000000000" pitchFamily="2" charset="0"/>
                <a:ea typeface="Roboto" panose="02000000000000000000" pitchFamily="2" charset="0"/>
              </a:rPr>
              <a:t>Возможность применения в медицине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</a:rPr>
              <a:t>,</a:t>
            </a:r>
            <a:r>
              <a:rPr lang="ru-RU" sz="1200" dirty="0">
                <a:latin typeface="Roboto" panose="02000000000000000000" pitchFamily="2" charset="0"/>
                <a:ea typeface="Roboto" panose="02000000000000000000" pitchFamily="2" charset="0"/>
              </a:rPr>
              <a:t> финансовом секторе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</a:rPr>
              <a:t>,</a:t>
            </a:r>
            <a:r>
              <a:rPr lang="ru-RU" sz="1200" dirty="0">
                <a:latin typeface="Roboto" panose="02000000000000000000" pitchFamily="2" charset="0"/>
                <a:ea typeface="Roboto" panose="02000000000000000000" pitchFamily="2" charset="0"/>
              </a:rPr>
              <a:t> системах безопасности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</a:rPr>
              <a:t>,</a:t>
            </a:r>
            <a:r>
              <a:rPr lang="ru-RU" sz="1200" dirty="0">
                <a:latin typeface="Roboto" panose="02000000000000000000" pitchFamily="2" charset="0"/>
                <a:ea typeface="Roboto" panose="02000000000000000000" pitchFamily="2" charset="0"/>
              </a:rPr>
              <a:t> ВПК.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ED0026AC-B4EC-44C2-8C39-32EB326F23C1}"/>
              </a:ext>
            </a:extLst>
          </p:cNvPr>
          <p:cNvCxnSpPr/>
          <p:nvPr/>
        </p:nvCxnSpPr>
        <p:spPr>
          <a:xfrm>
            <a:off x="2199813" y="1478642"/>
            <a:ext cx="0" cy="3106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1932D9FD-AC2F-44DC-9594-F0B9D4DE248B}"/>
              </a:ext>
            </a:extLst>
          </p:cNvPr>
          <p:cNvCxnSpPr/>
          <p:nvPr/>
        </p:nvCxnSpPr>
        <p:spPr>
          <a:xfrm>
            <a:off x="4504069" y="1440409"/>
            <a:ext cx="0" cy="3106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36A30D8D-893C-4E75-99E9-1B9AD53A7399}"/>
              </a:ext>
            </a:extLst>
          </p:cNvPr>
          <p:cNvCxnSpPr/>
          <p:nvPr/>
        </p:nvCxnSpPr>
        <p:spPr>
          <a:xfrm>
            <a:off x="6736317" y="1440409"/>
            <a:ext cx="0" cy="3106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8A3F8F9-81A6-48D3-95ED-4E50967910F4}"/>
              </a:ext>
            </a:extLst>
          </p:cNvPr>
          <p:cNvSpPr txBox="1"/>
          <p:nvPr/>
        </p:nvSpPr>
        <p:spPr>
          <a:xfrm>
            <a:off x="2364254" y="2359190"/>
            <a:ext cx="197970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400" b="1" dirty="0">
              <a:latin typeface="Raleway" pitchFamily="2" charset="-52"/>
              <a:ea typeface="Roboto" panose="02000000000000000000" pitchFamily="2" charset="0"/>
            </a:endParaRPr>
          </a:p>
          <a:p>
            <a:pPr algn="ctr"/>
            <a:r>
              <a:rPr lang="ru-RU" sz="1400" b="1" dirty="0">
                <a:latin typeface="Raleway" pitchFamily="2" charset="-52"/>
                <a:ea typeface="Roboto" panose="02000000000000000000" pitchFamily="2" charset="0"/>
              </a:rPr>
              <a:t>Инструмент для исследований</a:t>
            </a:r>
            <a:endParaRPr lang="en-US" sz="1400" b="1" dirty="0">
              <a:latin typeface="Raleway" pitchFamily="2" charset="-52"/>
              <a:ea typeface="Roboto" panose="02000000000000000000" pitchFamily="2" charset="0"/>
            </a:endParaRPr>
          </a:p>
          <a:p>
            <a:endParaRPr lang="en-US" sz="12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ru-RU" sz="1200" dirty="0">
                <a:latin typeface="Roboto" panose="02000000000000000000" pitchFamily="2" charset="0"/>
                <a:ea typeface="Roboto" panose="02000000000000000000" pitchFamily="2" charset="0"/>
              </a:rPr>
              <a:t>Комплекс может использоваться как платформа для экспериментальной оценки устойчивости алгоритмов машинного обучения.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1C8F50-0AE0-4D55-BDED-D37ACD76F4C4}"/>
              </a:ext>
            </a:extLst>
          </p:cNvPr>
          <p:cNvSpPr txBox="1"/>
          <p:nvPr/>
        </p:nvSpPr>
        <p:spPr>
          <a:xfrm>
            <a:off x="4631077" y="2333875"/>
            <a:ext cx="197970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400" b="1" dirty="0">
              <a:latin typeface="Raleway" pitchFamily="2" charset="-52"/>
              <a:ea typeface="Roboto" panose="02000000000000000000" pitchFamily="2" charset="0"/>
            </a:endParaRPr>
          </a:p>
          <a:p>
            <a:pPr algn="ctr"/>
            <a:r>
              <a:rPr lang="ru-RU" sz="1400" b="1" dirty="0">
                <a:latin typeface="Raleway" pitchFamily="2" charset="-52"/>
                <a:ea typeface="Roboto" panose="02000000000000000000" pitchFamily="2" charset="0"/>
              </a:rPr>
              <a:t>Доступность</a:t>
            </a:r>
            <a:endParaRPr lang="en-US" sz="1400" b="1" dirty="0">
              <a:latin typeface="Raleway" pitchFamily="2" charset="-52"/>
              <a:ea typeface="Roboto" panose="02000000000000000000" pitchFamily="2" charset="0"/>
            </a:endParaRPr>
          </a:p>
          <a:p>
            <a:endParaRPr lang="en-US" sz="12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ru-RU" sz="1200" dirty="0">
                <a:latin typeface="Roboto" panose="02000000000000000000" pitchFamily="2" charset="0"/>
                <a:ea typeface="Roboto" panose="02000000000000000000" pitchFamily="2" charset="0"/>
              </a:rPr>
              <a:t>Интуитивно понятный графический интерфейс делает комплекс доступным для широкого круга специалистов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</a:rPr>
              <a:t>,</a:t>
            </a:r>
            <a:r>
              <a:rPr lang="ru-RU" sz="1200" dirty="0">
                <a:latin typeface="Roboto" panose="02000000000000000000" pitchFamily="2" charset="0"/>
                <a:ea typeface="Roboto" panose="02000000000000000000" pitchFamily="2" charset="0"/>
              </a:rPr>
              <a:t> не требуя глубоких знаний в программировании.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7AEC31-A371-4C49-BBDC-396B50CDE404}"/>
              </a:ext>
            </a:extLst>
          </p:cNvPr>
          <p:cNvSpPr txBox="1"/>
          <p:nvPr/>
        </p:nvSpPr>
        <p:spPr>
          <a:xfrm>
            <a:off x="6861850" y="2339723"/>
            <a:ext cx="2019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400" b="1" dirty="0">
              <a:latin typeface="Raleway" pitchFamily="2" charset="-52"/>
              <a:ea typeface="Roboto" panose="02000000000000000000" pitchFamily="2" charset="0"/>
            </a:endParaRPr>
          </a:p>
          <a:p>
            <a:pPr algn="ctr"/>
            <a:r>
              <a:rPr lang="ru-RU" sz="1400" b="1" dirty="0">
                <a:latin typeface="Raleway" pitchFamily="2" charset="-52"/>
                <a:ea typeface="Roboto" panose="02000000000000000000" pitchFamily="2" charset="0"/>
              </a:rPr>
              <a:t>Расширяемость</a:t>
            </a:r>
            <a:endParaRPr lang="en-US" sz="1400" b="1" dirty="0">
              <a:latin typeface="Raleway" pitchFamily="2" charset="-52"/>
              <a:ea typeface="Roboto" panose="02000000000000000000" pitchFamily="2" charset="0"/>
            </a:endParaRPr>
          </a:p>
          <a:p>
            <a:endParaRPr lang="en-US" sz="12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ru-RU" sz="1200" dirty="0">
                <a:latin typeface="Roboto" panose="02000000000000000000" pitchFamily="2" charset="0"/>
                <a:ea typeface="Roboto" panose="02000000000000000000" pitchFamily="2" charset="0"/>
              </a:rPr>
              <a:t>Модульная архитектура позволяет легко адаптировать и расширить комплекс для решения специфических задач.</a:t>
            </a:r>
          </a:p>
        </p:txBody>
      </p:sp>
    </p:spTree>
    <p:extLst>
      <p:ext uri="{BB962C8B-B14F-4D97-AF65-F5344CB8AC3E}">
        <p14:creationId xmlns:p14="http://schemas.microsoft.com/office/powerpoint/2010/main" val="2812112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40B1E2-2616-4D5B-9C22-38075C93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 и перспективы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C58B7F-EC31-43BC-ABC1-819AA858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A18EB61-9EBD-44E2-9C41-DDD2243C44D8}" type="slidenum">
              <a:rPr lang="ru-RU" smtClean="0"/>
              <a:t>18</a:t>
            </a:fld>
            <a:endParaRPr lang="ru-RU" dirty="0"/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7D12D7E6-F4F8-49DC-8BD8-769965D025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5832936"/>
              </p:ext>
            </p:extLst>
          </p:nvPr>
        </p:nvGraphicFramePr>
        <p:xfrm>
          <a:off x="179512" y="1203598"/>
          <a:ext cx="8784976" cy="1908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76832A9C-910C-4D28-96B9-EE318E0B28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9891879"/>
              </p:ext>
            </p:extLst>
          </p:nvPr>
        </p:nvGraphicFramePr>
        <p:xfrm>
          <a:off x="179512" y="3111813"/>
          <a:ext cx="8784976" cy="1354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07630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1A3F042-4A5B-426A-8B36-3E3D4D5A5336}"/>
              </a:ext>
            </a:extLst>
          </p:cNvPr>
          <p:cNvSpPr txBox="1"/>
          <p:nvPr/>
        </p:nvSpPr>
        <p:spPr>
          <a:xfrm>
            <a:off x="2340177" y="2279362"/>
            <a:ext cx="4463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Roboto" panose="02000000000000000000" pitchFamily="2" charset="0"/>
                <a:ea typeface="Roboto" panose="02000000000000000000" pitchFamily="2" charset="0"/>
              </a:rPr>
              <a:t>Спасибо за внимание</a:t>
            </a:r>
            <a:r>
              <a:rPr lang="en-US" sz="3200" b="1" dirty="0">
                <a:latin typeface="Roboto" panose="02000000000000000000" pitchFamily="2" charset="0"/>
                <a:ea typeface="Roboto" panose="02000000000000000000" pitchFamily="2" charset="0"/>
              </a:rPr>
              <a:t>!</a:t>
            </a:r>
            <a:endParaRPr lang="ru-RU" sz="3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749752"/>
      </p:ext>
    </p:extLst>
  </p:cSld>
  <p:clrMapOvr>
    <a:masterClrMapping/>
  </p:clrMapOvr>
</p:sld>
</file>

<file path=ppt/theme/theme1.xml><?xml version="1.0" encoding="utf-8"?>
<a:theme xmlns:a="http://schemas.openxmlformats.org/drawingml/2006/main" name="mpei_shablon_3000">
  <a:themeElements>
    <a:clrScheme name="Другая 1">
      <a:dk1>
        <a:srgbClr val="181818"/>
      </a:dk1>
      <a:lt1>
        <a:sysClr val="window" lastClr="FFFFFF"/>
      </a:lt1>
      <a:dk2>
        <a:srgbClr val="181818"/>
      </a:dk2>
      <a:lt2>
        <a:srgbClr val="F8F8F8"/>
      </a:lt2>
      <a:accent1>
        <a:srgbClr val="A23E43"/>
      </a:accent1>
      <a:accent2>
        <a:srgbClr val="2B3F6A"/>
      </a:accent2>
      <a:accent3>
        <a:srgbClr val="AE585B"/>
      </a:accent3>
      <a:accent4>
        <a:srgbClr val="465A7F"/>
      </a:accent4>
      <a:accent5>
        <a:srgbClr val="BB777A"/>
      </a:accent5>
      <a:accent6>
        <a:srgbClr val="66779A"/>
      </a:accent6>
      <a:hlink>
        <a:srgbClr val="2B3F6A"/>
      </a:hlink>
      <a:folHlink>
        <a:srgbClr val="A23E43"/>
      </a:folHlink>
    </a:clrScheme>
    <a:fontScheme name="Фирменный стиль презентаций">
      <a:majorFont>
        <a:latin typeface="Avenir Next Cyr"/>
        <a:ea typeface=""/>
        <a:cs typeface=""/>
      </a:majorFont>
      <a:minorFont>
        <a:latin typeface="Avenir Next Cy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ФС МЭИ шабон.potx" id="{7604E263-28E6-4AF8-8A6B-EC74DFD11816}" vid="{DF03A726-2A6A-441E-8D13-5334CCCA477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96D86A82F5AFB4E974E810EA0B07432" ma:contentTypeVersion="1" ma:contentTypeDescription="Создание документа." ma:contentTypeScope="" ma:versionID="bd31308227ac6bc6ac442af8f049f592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2a10c82831e5d625bbb0173136b0368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Дата начала расписания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Дата окончания расписания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08F35B18-82D1-4410-B7F6-B1D6DF3B42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DD138A-5BDF-4A95-88F8-0B2B911A8D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74BC09-7D62-4127-A5E5-4021FFA8E0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mpei_shablon_3000 (1)</Template>
  <TotalTime>1461</TotalTime>
  <Words>1230</Words>
  <Application>Microsoft Office PowerPoint</Application>
  <PresentationFormat>Экран (16:9)</PresentationFormat>
  <Paragraphs>416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7" baseType="lpstr">
      <vt:lpstr>Avenir Next Cyr</vt:lpstr>
      <vt:lpstr>Calibri</vt:lpstr>
      <vt:lpstr>Raleway</vt:lpstr>
      <vt:lpstr>Cambria Math</vt:lpstr>
      <vt:lpstr>Roboto</vt:lpstr>
      <vt:lpstr>Times New Roman</vt:lpstr>
      <vt:lpstr>Arial</vt:lpstr>
      <vt:lpstr>mpei_shablon_3000</vt:lpstr>
      <vt:lpstr>ФЕДЕРАЛЬНОЕ ГОСУДАРСТВЕННОЕ БЮДЖЕТНОЕ ОБРАЗОВАТЕЛЬНОЕ УЧРЕЖДЕНИЕ ВЫСШЕГО ОБРАЗОВАНИЯ  </vt:lpstr>
      <vt:lpstr>Актуальность работы</vt:lpstr>
      <vt:lpstr>Цели и задачи работы</vt:lpstr>
      <vt:lpstr>Анализ современных подходов</vt:lpstr>
      <vt:lpstr>Типы шума в данных</vt:lpstr>
      <vt:lpstr>Архитектура программного комплекса</vt:lpstr>
      <vt:lpstr>Нейросетевое ядро</vt:lpstr>
      <vt:lpstr>Адаптивный ансамбль</vt:lpstr>
      <vt:lpstr>Методы предобработки данных</vt:lpstr>
      <vt:lpstr>Реализация программного комплекса</vt:lpstr>
      <vt:lpstr>Графический интерфейс</vt:lpstr>
      <vt:lpstr>Методика экспериментальных исследований</vt:lpstr>
      <vt:lpstr>Результаты экспериментов (импульсный)</vt:lpstr>
      <vt:lpstr>Результаты экспериментов (гауссовский)</vt:lpstr>
      <vt:lpstr>Результаты экспериментов (пропущ. знач.)</vt:lpstr>
      <vt:lpstr>Эффективность разработанного ансамбля</vt:lpstr>
      <vt:lpstr>Практическая значимость</vt:lpstr>
      <vt:lpstr>Заключение и перспективы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ФЕДЕРАЛЬНОЕ ГОСУДАРСТВЕННОЕ БЮДЖЕТНОЕ ОБРАЗОВАТЕЛЬНОЕ УЧРЕЖДЕНИЕ ВЫСШЕГО ОБРАЗОВАНИЯ  </dc:title>
  <dc:creator>Артур Балкаров</dc:creator>
  <cp:lastModifiedBy>Grigoriy Shvets</cp:lastModifiedBy>
  <cp:revision>107</cp:revision>
  <dcterms:created xsi:type="dcterms:W3CDTF">2025-06-10T23:35:22Z</dcterms:created>
  <dcterms:modified xsi:type="dcterms:W3CDTF">2025-06-15T19:31:30Z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0x010100C96D86A82F5AFB4E974E810EA0B07432</vt:lpwstr>
  </property>
</Properties>
</file>